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6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61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A5B4FC"/>
                </a:solidFill>
                <a:latin typeface="Arial"/>
              </a:defRPr>
            </a:pPr>
            <a:r>
              <a:rPr lang="en-ID" sz="1100" b="0" i="0" u="none" strike="noStrike">
                <a:solidFill>
                  <a:srgbClr val="A5B4FC"/>
                </a:solidFill>
                <a:latin typeface="Arial"/>
              </a:rPr>
              <a:t>Training &amp; Validation Loss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1E3A5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span"/>
    <c:showDLblsOverMax val="1"/>
  </c:chart>
  <c:spPr>
    <a:solidFill>
      <a:srgbClr val="0A1628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A5B4FC"/>
                </a:solidFill>
                <a:latin typeface="Arial"/>
              </a:defRPr>
            </a:pPr>
            <a:r>
              <a:rPr lang="en-ID" sz="1100" b="0" i="0" u="none" strike="noStrike">
                <a:solidFill>
                  <a:srgbClr val="A5B4FC"/>
                </a:solidFill>
                <a:latin typeface="Arial"/>
              </a:rPr>
              <a:t>mAP50 per Epoch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mAP50</c:v>
                </c:pt>
              </c:strCache>
            </c:strRef>
          </c:tx>
          <c:spPr>
            <a:ln w="31750" cap="flat">
              <a:solidFill>
                <a:srgbClr val="10B98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Ep1</c:v>
                </c:pt>
                <c:pt idx="1">
                  <c:v>Ep20</c:v>
                </c:pt>
                <c:pt idx="2">
                  <c:v>Ep40</c:v>
                </c:pt>
                <c:pt idx="3">
                  <c:v>Ep60</c:v>
                </c:pt>
                <c:pt idx="4">
                  <c:v>Ep80</c:v>
                </c:pt>
                <c:pt idx="5">
                  <c:v>Ep100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0.12</c:v>
                </c:pt>
                <c:pt idx="1">
                  <c:v>0.55000000000000004</c:v>
                </c:pt>
                <c:pt idx="2">
                  <c:v>0.72</c:v>
                </c:pt>
                <c:pt idx="3">
                  <c:v>0.81</c:v>
                </c:pt>
                <c:pt idx="4">
                  <c:v>0.84499999999999997</c:v>
                </c:pt>
                <c:pt idx="5">
                  <c:v>0.84799999999999998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9D0D-4605-9E8D-6C65FAA552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E3A5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A162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50750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0212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chart" Target="../charts/char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907367"/>
            <a:ext cx="3657600" cy="3657600"/>
          </a:xfrm>
          <a:prstGeom prst="ellipse">
            <a:avLst/>
          </a:prstGeom>
          <a:solidFill>
            <a:srgbClr val="667EEA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772400" y="3144128"/>
            <a:ext cx="2743200" cy="2743200"/>
          </a:xfrm>
          <a:prstGeom prst="ellipse">
            <a:avLst/>
          </a:prstGeom>
          <a:solidFill>
            <a:srgbClr val="764BA2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914400" y="2743200"/>
            <a:ext cx="2743200" cy="2743200"/>
          </a:xfrm>
          <a:prstGeom prst="ellipse">
            <a:avLst/>
          </a:prstGeom>
          <a:solidFill>
            <a:srgbClr val="06B6D4">
              <a:alpha val="1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9913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Multi-Class Building Detection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150033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pada Citra Satelit Menggunakan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1744393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dan Streamlit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743200" y="2494201"/>
            <a:ext cx="365760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640505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Deteksi: Home · Mosque · Oil Refinery · Solar Panels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2"/>
            <a:ext cx="1554480" cy="347472"/>
          </a:xfrm>
          <a:prstGeom prst="roundRect">
            <a:avLst>
              <a:gd name="adj" fmla="val 23684"/>
            </a:avLst>
          </a:prstGeom>
          <a:solidFill>
            <a:srgbClr val="0F204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134281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Roboflow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167128" y="3134281"/>
            <a:ext cx="1554480" cy="347472"/>
          </a:xfrm>
          <a:prstGeom prst="roundRect">
            <a:avLst>
              <a:gd name="adj" fmla="val 23684"/>
            </a:avLst>
          </a:prstGeom>
          <a:solidFill>
            <a:srgbClr val="0F2040"/>
          </a:solidFill>
          <a:ln/>
        </p:spPr>
      </p:sp>
      <p:sp>
        <p:nvSpPr>
          <p:cNvPr id="14" name="Text 12"/>
          <p:cNvSpPr/>
          <p:nvPr/>
        </p:nvSpPr>
        <p:spPr>
          <a:xfrm>
            <a:off x="2167128" y="3134281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31336" y="3134281"/>
            <a:ext cx="1554480" cy="347472"/>
          </a:xfrm>
          <a:prstGeom prst="roundRect">
            <a:avLst>
              <a:gd name="adj" fmla="val 23684"/>
            </a:avLst>
          </a:prstGeom>
          <a:solidFill>
            <a:srgbClr val="0F2040"/>
          </a:solidFill>
          <a:ln/>
        </p:spPr>
      </p:sp>
      <p:sp>
        <p:nvSpPr>
          <p:cNvPr id="16" name="Text 14"/>
          <p:cNvSpPr/>
          <p:nvPr/>
        </p:nvSpPr>
        <p:spPr>
          <a:xfrm>
            <a:off x="3831336" y="3134281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95544" y="3134281"/>
            <a:ext cx="1554480" cy="347472"/>
          </a:xfrm>
          <a:prstGeom prst="roundRect">
            <a:avLst>
              <a:gd name="adj" fmla="val 23684"/>
            </a:avLst>
          </a:prstGeom>
          <a:solidFill>
            <a:srgbClr val="0F2040"/>
          </a:solidFill>
          <a:ln/>
        </p:spPr>
      </p:sp>
      <p:sp>
        <p:nvSpPr>
          <p:cNvPr id="18" name="Text 16"/>
          <p:cNvSpPr/>
          <p:nvPr/>
        </p:nvSpPr>
        <p:spPr>
          <a:xfrm>
            <a:off x="5495544" y="3134281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159752" y="3134281"/>
            <a:ext cx="1554480" cy="347472"/>
          </a:xfrm>
          <a:prstGeom prst="roundRect">
            <a:avLst>
              <a:gd name="adj" fmla="val 23684"/>
            </a:avLst>
          </a:prstGeom>
          <a:solidFill>
            <a:srgbClr val="0F2040"/>
          </a:solidFill>
          <a:ln/>
        </p:spPr>
      </p:sp>
      <p:sp>
        <p:nvSpPr>
          <p:cNvPr id="20" name="Text 18"/>
          <p:cNvSpPr/>
          <p:nvPr/>
        </p:nvSpPr>
        <p:spPr>
          <a:xfrm>
            <a:off x="7159752" y="3134281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414997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Annuar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Hakim (2410654)</a:t>
            </a:r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Ikhwan </a:t>
            </a: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Rizki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Ramadhan (2403873)</a:t>
            </a:r>
          </a:p>
          <a:p>
            <a:pPr marL="0" indent="0" algn="ctr">
              <a:buNone/>
            </a:pP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Radithya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Wildan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Pratama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(2405061)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4674697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Project  ·  2026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009559FF-D2FA-4734-8880-904E5F3D72C5}"/>
              </a:ext>
            </a:extLst>
          </p:cNvPr>
          <p:cNvSpPr/>
          <p:nvPr/>
        </p:nvSpPr>
        <p:spPr>
          <a:xfrm>
            <a:off x="532226" y="364142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u="sng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</a:t>
            </a: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</a:t>
            </a:r>
            <a:endParaRPr lang="en-US" sz="1300" b="1" u="sng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85953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49808"/>
            <a:ext cx="54864" cy="86868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384048" y="841248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51560" y="83210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Pemetaan Wilayah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115214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Citra satelit digunakan untuk perencanaan kota, smart city, dan pemetaan wilayah secara otomatis.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1755648"/>
            <a:ext cx="85953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1755648"/>
            <a:ext cx="54864" cy="86868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2" name="Text 10"/>
          <p:cNvSpPr/>
          <p:nvPr/>
        </p:nvSpPr>
        <p:spPr>
          <a:xfrm>
            <a:off x="384048" y="1847088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⏱️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051560" y="183794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Keterbatasan Manual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51560" y="215798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Identifikasi bangunan secara manual membutuhkan waktu lama dan rentan kesalahan.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761488"/>
            <a:ext cx="85953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61488"/>
            <a:ext cx="54864" cy="86868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384048" y="2852928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051560" y="284378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Solusi: YOLOv8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51560" y="316382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dapat mendeteksi multi-class objek bangunan dengan bounding box dan jumlah per kelas.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3767328"/>
            <a:ext cx="85953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3767328"/>
            <a:ext cx="54864" cy="86868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22" name="Text 20"/>
          <p:cNvSpPr/>
          <p:nvPr/>
        </p:nvSpPr>
        <p:spPr>
          <a:xfrm>
            <a:off x="384048" y="3858768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💻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051560" y="384962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Interface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51560" y="416966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dikemas dalam Streamlit agar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mudah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digunakan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dengan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upload gambar, hasil langsung tampil.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Rumusan Masalah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8595360" cy="86868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914400"/>
            <a:ext cx="530352" cy="530352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" y="91440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24128" y="886968"/>
            <a:ext cx="7726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membangun model object detection untuk mendeteksi beberapa kelas objek pada citra satelit?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755648"/>
            <a:ext cx="8595360" cy="86868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7472" y="1920240"/>
            <a:ext cx="530352" cy="530352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" y="192024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24128" y="1892808"/>
            <a:ext cx="7726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proses pembuatan dataset multi-class menggunakan Roboflow?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761488"/>
            <a:ext cx="8595360" cy="86868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7472" y="2926080"/>
            <a:ext cx="530352" cy="530352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" y="292608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24128" y="2898648"/>
            <a:ext cx="7726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performa YOLOv8 dalam mendeteksi kelas Home, Mosque, Oil Refinery, dan Solar Panels?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3767328"/>
            <a:ext cx="8595360" cy="86868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47472" y="3931920"/>
            <a:ext cx="530352" cy="530352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9" name="Text 17"/>
          <p:cNvSpPr/>
          <p:nvPr/>
        </p:nvSpPr>
        <p:spPr>
          <a:xfrm>
            <a:off x="347472" y="3931920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24128" y="3904488"/>
            <a:ext cx="7726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mengimplementasikan model YOLOv8 ke dalam web app berbasis Streamlit?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 Project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420624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49808"/>
            <a:ext cx="4206240" cy="64008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59536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188720" y="88696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 Dataset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143560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Membuat dataset citra satelit dengan anotasi bounding box multi-class menggunakan Roboflow.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749808"/>
            <a:ext cx="420624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49808"/>
            <a:ext cx="4206240" cy="64008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59536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764B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623560" y="88696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Model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143560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Melatih model YOLOv8n untuk mendeteksi 4 kelas objek: Home, Mosque, Oil Refinery, Solar Panels.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715768"/>
            <a:ext cx="420624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15768"/>
            <a:ext cx="4206240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825496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188720" y="28529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Evaluasi Model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1480" y="340156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Mengevaluasi performa menggunakan Precision, Recall, mAP50, dan mAP50-95.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2715768"/>
            <a:ext cx="420624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715768"/>
            <a:ext cx="420624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825496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5623560" y="28529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46320" y="340156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Membuat aplikasi Streamlit agar pengguna dapat upload gambar dan melihat hasil deteksi.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Kenapa Object Detection?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2651760" cy="27432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49808"/>
            <a:ext cx="2651760" cy="6400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8696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5087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memberi label ke seluruh gambar.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bisa menunjukkan lokasi objek.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54680" y="749808"/>
            <a:ext cx="2651760" cy="27432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749808"/>
            <a:ext cx="265176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3154680" y="88696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Detection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46120" y="15087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Mendeteksi objek, memberi bounding box, dan menghitung jumlah per kelas.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566160" y="2788920"/>
            <a:ext cx="1828800" cy="34747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27889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Pilihan Kami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749808"/>
            <a:ext cx="2651760" cy="27432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749808"/>
            <a:ext cx="265176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035040" y="88696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26480" y="15087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Lebih detail dengan polygon, tetapi proses anotasi jauh lebih lama.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3657600"/>
            <a:ext cx="8595360" cy="1097280"/>
          </a:xfrm>
          <a:prstGeom prst="rect">
            <a:avLst/>
          </a:prstGeom>
          <a:solidFill>
            <a:srgbClr val="0D1E3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" y="3730752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Object Detection dipilih karena dapat menghasilkan bounding box sekaligus menghitung jumlah objek per </a:t>
            </a:r>
            <a:r>
              <a:rPr lang="en-US" sz="115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kelas</a:t>
            </a:r>
            <a:r>
              <a:rPr lang="en-US" sz="11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sebagaimana</a:t>
            </a:r>
            <a:r>
              <a:rPr lang="en-US" sz="11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kebutuhan</a:t>
            </a:r>
            <a:r>
              <a:rPr lang="en-US" sz="11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project ini.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Kelas Objek yang Dideteksi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42062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49808"/>
            <a:ext cx="4206240" cy="64008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749808"/>
            <a:ext cx="914400" cy="1828800"/>
          </a:xfrm>
          <a:prstGeom prst="rect">
            <a:avLst/>
          </a:prstGeom>
          <a:solidFill>
            <a:srgbClr val="667EE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749808"/>
            <a:ext cx="914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🏠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280160" y="91440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13441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Kelas 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280160" y="161848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Rumah tinggal terlihat dari atas, ditandai dari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bentuk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atap dan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lingkungan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perumahan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749808"/>
            <a:ext cx="42062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749808"/>
            <a:ext cx="4206240" cy="64008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4" name="Shape 12"/>
          <p:cNvSpPr/>
          <p:nvPr/>
        </p:nvSpPr>
        <p:spPr>
          <a:xfrm>
            <a:off x="4709160" y="749808"/>
            <a:ext cx="914400" cy="1828800"/>
          </a:xfrm>
          <a:prstGeom prst="rect">
            <a:avLst/>
          </a:prstGeom>
          <a:solidFill>
            <a:srgbClr val="764BA2">
              <a:alpha val="12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709160" y="749808"/>
            <a:ext cx="914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🕌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715000" y="91440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Mosque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715000" y="13441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64B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Kelas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715000" y="161848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Masjid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dengan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kubah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atau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atap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khas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beberapa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tengah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pemukiman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2807208"/>
            <a:ext cx="42062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2807208"/>
            <a:ext cx="420624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2807208"/>
            <a:ext cx="914400" cy="1828800"/>
          </a:xfrm>
          <a:prstGeom prst="rect">
            <a:avLst/>
          </a:prstGeom>
          <a:solidFill>
            <a:srgbClr val="F59E0B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274320" y="2807208"/>
            <a:ext cx="914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🛢️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1280160" y="297180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Refinery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80160" y="34015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Kelas 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kilang minyak dengan tangki besar,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sedang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kecil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beberapa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karatan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9160" y="2807208"/>
            <a:ext cx="42062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2807208"/>
            <a:ext cx="420624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Shape 26"/>
          <p:cNvSpPr/>
          <p:nvPr/>
        </p:nvSpPr>
        <p:spPr>
          <a:xfrm>
            <a:off x="4709160" y="2807208"/>
            <a:ext cx="914400" cy="1828800"/>
          </a:xfrm>
          <a:prstGeom prst="rect">
            <a:avLst/>
          </a:prstGeom>
          <a:solidFill>
            <a:srgbClr val="10B981">
              <a:alpha val="1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709160" y="2807208"/>
            <a:ext cx="914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☀️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5715000" y="297180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Panels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715000" y="34015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Kelas 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715000" y="3675888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ladang panel, tampak gelap dan beraturan.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dan Teknologi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2651760" cy="16002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49808"/>
            <a:ext cx="265176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59536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🔵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87782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Roboflow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43560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Upload, anotasi, split, preprocessing, dan export dataset YOLOv8.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749808"/>
            <a:ext cx="2651760" cy="16002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749808"/>
            <a:ext cx="265176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3246120" y="859536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🐍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840480" y="87782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46120" y="143560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Bahasa pemrograman utama untuk training dan inference.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749808"/>
            <a:ext cx="2651760" cy="16002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749808"/>
            <a:ext cx="265176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859536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🔥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720840" y="87782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+ CUDA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26480" y="143560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framework dengan akselerasi GPU NVIDIA.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2624328"/>
            <a:ext cx="2651760" cy="16002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2624328"/>
            <a:ext cx="2651760" cy="54864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2734056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60120" y="275234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(Ultralytics)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331012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object detection modern, cepat, dan mudah digunakan.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54680" y="2624328"/>
            <a:ext cx="2651760" cy="16002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2624328"/>
            <a:ext cx="265176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7" name="Text 25"/>
          <p:cNvSpPr/>
          <p:nvPr/>
        </p:nvSpPr>
        <p:spPr>
          <a:xfrm>
            <a:off x="3246120" y="2734056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3840480" y="275234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46120" y="331012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interface drag &amp; drop untuk demo deteksi.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035040" y="2624328"/>
            <a:ext cx="2651760" cy="16002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035040" y="2624328"/>
            <a:ext cx="2651760" cy="5486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2" name="Text 30"/>
          <p:cNvSpPr/>
          <p:nvPr/>
        </p:nvSpPr>
        <p:spPr>
          <a:xfrm>
            <a:off x="6126480" y="2734056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📷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720840" y="275234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+ NumPy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126480" y="331012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Pemrosesan gambar dan array untuk preprocessing.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Environment: Miniconda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859536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859536"/>
            <a:ext cx="475488" cy="475488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" y="85953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8412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 environment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29000" y="841248"/>
            <a:ext cx="5349240" cy="512064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841248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conda create -n buildingdet python=3.10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1572768"/>
            <a:ext cx="859536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7472" y="1682496"/>
            <a:ext cx="475488" cy="475488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" y="168249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16642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Aktifkan environment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29000" y="1664208"/>
            <a:ext cx="5349240" cy="512064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6" name="Text 14"/>
          <p:cNvSpPr/>
          <p:nvPr/>
        </p:nvSpPr>
        <p:spPr>
          <a:xfrm>
            <a:off x="3520440" y="1664208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conda activate buildingdet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2395728"/>
            <a:ext cx="859536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47472" y="2505456"/>
            <a:ext cx="475488" cy="475488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9" name="Text 17"/>
          <p:cNvSpPr/>
          <p:nvPr/>
        </p:nvSpPr>
        <p:spPr>
          <a:xfrm>
            <a:off x="347472" y="25054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0120" y="24871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library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29000" y="2487168"/>
            <a:ext cx="5349240" cy="512064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2" name="Text 20"/>
          <p:cNvSpPr/>
          <p:nvPr/>
        </p:nvSpPr>
        <p:spPr>
          <a:xfrm>
            <a:off x="3520440" y="2487168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ultralytics streamlit opencv-python pandas pillow numpy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320" y="3218688"/>
            <a:ext cx="859536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47472" y="3328416"/>
            <a:ext cx="475488" cy="475488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25" name="Text 23"/>
          <p:cNvSpPr/>
          <p:nvPr/>
        </p:nvSpPr>
        <p:spPr>
          <a:xfrm>
            <a:off x="347472" y="332841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60120" y="33101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Cek instalasi YOLO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429000" y="3310128"/>
            <a:ext cx="5349240" cy="512064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3520440" y="3310128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yolo checks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" y="4041648"/>
            <a:ext cx="859536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47472" y="4151376"/>
            <a:ext cx="475488" cy="475488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31" name="Text 29"/>
          <p:cNvSpPr/>
          <p:nvPr/>
        </p:nvSpPr>
        <p:spPr>
          <a:xfrm>
            <a:off x="347472" y="415137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60120" y="41330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Cek GPU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429000" y="4133088"/>
            <a:ext cx="5349240" cy="512064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4" name="Text 32"/>
          <p:cNvSpPr/>
          <p:nvPr/>
        </p:nvSpPr>
        <p:spPr>
          <a:xfrm>
            <a:off x="3520440" y="4133088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nvidia-smi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74320" y="4846320"/>
            <a:ext cx="8595360" cy="182880"/>
          </a:xfrm>
          <a:prstGeom prst="rect">
            <a:avLst/>
          </a:prstGeom>
          <a:solidFill>
            <a:srgbClr val="10B981">
              <a:alpha val="2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4846320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GPU NVIDIA GeForce GTX 1650 berhasil terdeteksi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Project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5029200" cy="420624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86868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building_detection/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126187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dataset/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68680" y="165506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train/images/ + labels/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68680" y="204825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valid/images/ + labels/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68680" y="244144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test/images/  + labels/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68680" y="283464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data.yaml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0080" y="322783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YOLO/models/best.pt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080" y="36210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runs/detect/train_v3_final/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0080" y="401421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4B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YOLO/app.py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0080" y="440740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training.py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532120" y="868680"/>
            <a:ext cx="3337560" cy="685800"/>
          </a:xfrm>
          <a:prstGeom prst="rect">
            <a:avLst/>
          </a:prstGeom>
          <a:solidFill>
            <a:srgbClr val="0D1E3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23560" y="92354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dataset/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23560" y="119786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gambar + label dari Roboflow export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532120" y="1673352"/>
            <a:ext cx="3337560" cy="685800"/>
          </a:xfrm>
          <a:prstGeom prst="rect">
            <a:avLst/>
          </a:prstGeom>
          <a:solidFill>
            <a:srgbClr val="0D1E3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23560" y="1728216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data.yaml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23560" y="2002536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dataset + jumlah kelas + nama kelas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532120" y="2478024"/>
            <a:ext cx="3337560" cy="685800"/>
          </a:xfrm>
          <a:prstGeom prst="rect">
            <a:avLst/>
          </a:prstGeom>
          <a:solidFill>
            <a:srgbClr val="0D1E3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623560" y="2532888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models/best.pt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23560" y="280720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dengan performa terbaik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532120" y="3282696"/>
            <a:ext cx="3337560" cy="685800"/>
          </a:xfrm>
          <a:prstGeom prst="rect">
            <a:avLst/>
          </a:prstGeom>
          <a:solidFill>
            <a:srgbClr val="0D1E3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623560" y="333756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runs/detect/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23560" y="36118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 loss, precision, recall, mAP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532120" y="4087368"/>
            <a:ext cx="3337560" cy="685800"/>
          </a:xfrm>
          <a:prstGeom prst="rect">
            <a:avLst/>
          </a:prstGeom>
          <a:solidFill>
            <a:srgbClr val="0D1E3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623560" y="4142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src/app.py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623560" y="441655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interface Streamlit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Cara </a:t>
            </a:r>
            <a:r>
              <a:rPr lang="en-US" sz="2600" b="1" dirty="0" err="1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Pengumpulan</a:t>
            </a: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Dataset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49808"/>
            <a:ext cx="265176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859536"/>
            <a:ext cx="502920" cy="50292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8595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88696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Kumpulkan Gambar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14630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citra satelit/top-down dari Google Earth per kelas objek.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54680" y="749808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749808"/>
            <a:ext cx="2651760" cy="54864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3" name="Shape 11"/>
          <p:cNvSpPr/>
          <p:nvPr/>
        </p:nvSpPr>
        <p:spPr>
          <a:xfrm>
            <a:off x="3246120" y="859536"/>
            <a:ext cx="502920" cy="502920"/>
          </a:xfrm>
          <a:prstGeom prst="ellipse">
            <a:avLst/>
          </a:prstGeom>
          <a:solidFill>
            <a:srgbClr val="764BA2"/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8595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840480" y="88696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ke Roboflow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46120" y="14630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&amp; drop gambar ke project Roboflow yang sudah dibuat.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35040" y="749808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35040" y="749808"/>
            <a:ext cx="265176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9" name="Shape 17"/>
          <p:cNvSpPr/>
          <p:nvPr/>
        </p:nvSpPr>
        <p:spPr>
          <a:xfrm>
            <a:off x="6126480" y="859536"/>
            <a:ext cx="502920" cy="5029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8595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720840" y="88696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 Kelas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126480" y="14630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Definisikan 4 kelas: Home, Mosque, Oil Refinery, Solar Panels.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" y="2761488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2761488"/>
            <a:ext cx="265176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Shape 23"/>
          <p:cNvSpPr/>
          <p:nvPr/>
        </p:nvSpPr>
        <p:spPr>
          <a:xfrm>
            <a:off x="365760" y="2871216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28712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60120" y="2898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Anotasi BBox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65760" y="34747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bounding box pada setiap objek di setiap gambar.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54680" y="2761488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154680" y="2761488"/>
            <a:ext cx="265176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1" name="Shape 29"/>
          <p:cNvSpPr/>
          <p:nvPr/>
        </p:nvSpPr>
        <p:spPr>
          <a:xfrm>
            <a:off x="3246120" y="2871216"/>
            <a:ext cx="502920" cy="5029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2" name="Text 30"/>
          <p:cNvSpPr/>
          <p:nvPr/>
        </p:nvSpPr>
        <p:spPr>
          <a:xfrm>
            <a:off x="3246120" y="28712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840480" y="2898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Version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246120" y="34747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Aktifkan augmentasi, split dataset, generate versi dataset.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035040" y="2761488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035040" y="2761488"/>
            <a:ext cx="2651760" cy="5486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7" name="Shape 35"/>
          <p:cNvSpPr/>
          <p:nvPr/>
        </p:nvSpPr>
        <p:spPr>
          <a:xfrm>
            <a:off x="6126480" y="2871216"/>
            <a:ext cx="502920" cy="50292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38" name="Text 36"/>
          <p:cNvSpPr/>
          <p:nvPr/>
        </p:nvSpPr>
        <p:spPr>
          <a:xfrm>
            <a:off x="6126480" y="28712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720840" y="2898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YOLOv8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126480" y="34747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dataset dalam format YOLOv8 TXT + data.yaml.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Anotasi Dataset di Roboflow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49808"/>
            <a:ext cx="54864" cy="80467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384048" y="841248"/>
            <a:ext cx="594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🏠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097280" y="88696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88696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514600" y="886968"/>
            <a:ext cx="6217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Rumah tinggal saja. Gedung kantor/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ruko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diberi label Home.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709928"/>
            <a:ext cx="8595360" cy="804672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709928"/>
            <a:ext cx="54864" cy="804672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3" name="Text 11"/>
          <p:cNvSpPr/>
          <p:nvPr/>
        </p:nvSpPr>
        <p:spPr>
          <a:xfrm>
            <a:off x="384048" y="1801368"/>
            <a:ext cx="594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🕌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1097280" y="184708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764BA2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184708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Mosque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514600" y="1847088"/>
            <a:ext cx="6217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Masjid dengan kubah atau atap khas masjid.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2670048"/>
            <a:ext cx="8595360" cy="804672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2670048"/>
            <a:ext cx="54864" cy="80467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384048" y="2761488"/>
            <a:ext cx="594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🛢️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80720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1097280" y="280720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Refinery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14600" y="2807208"/>
            <a:ext cx="6217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kilang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minyak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tangki besar dan pola infrastruktur industri.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4320" y="3630168"/>
            <a:ext cx="8595360" cy="804672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3630168"/>
            <a:ext cx="54864" cy="80467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384048" y="3721608"/>
            <a:ext cx="594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☀️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97280" y="376732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/>
        </p:spPr>
      </p:sp>
      <p:sp>
        <p:nvSpPr>
          <p:cNvPr id="27" name="Text 25"/>
          <p:cNvSpPr/>
          <p:nvPr/>
        </p:nvSpPr>
        <p:spPr>
          <a:xfrm>
            <a:off x="1097280" y="37673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514600" y="3767328"/>
            <a:ext cx="6217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surya di atap atau ladang panel; tampak gelap beraturan.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solidFill>
            <a:srgbClr val="0D1E35"/>
          </a:solidFill>
          <a:ln/>
        </p:spPr>
      </p:sp>
      <p:sp>
        <p:nvSpPr>
          <p:cNvPr id="30" name="Text 28"/>
          <p:cNvSpPr/>
          <p:nvPr/>
        </p:nvSpPr>
        <p:spPr>
          <a:xfrm>
            <a:off x="411480" y="466344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Konsistensi anotasi sangat </a:t>
            </a:r>
            <a:r>
              <a:rPr lang="en-US" sz="105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penting</a:t>
            </a: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5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misalkan</a:t>
            </a: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</a:t>
            </a: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</a:t>
            </a: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saja</a:t>
            </a: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salah label, bisa merusak pola belajar model.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Statistik Dataset Akhir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1691640" cy="128016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868680"/>
            <a:ext cx="1691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74320" y="1536192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Images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3120" y="749808"/>
            <a:ext cx="1691640" cy="128016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103120" y="868680"/>
            <a:ext cx="1691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1,284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103120" y="1536192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Annotations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31920" y="749808"/>
            <a:ext cx="1691640" cy="128016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931920" y="868680"/>
            <a:ext cx="1691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931920" y="1536192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Classes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6421" y="2212848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Distribusi Anotasi per Kelas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4924" y="2606040"/>
            <a:ext cx="4928616" cy="34747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6" name="Text 14"/>
          <p:cNvSpPr/>
          <p:nvPr/>
        </p:nvSpPr>
        <p:spPr>
          <a:xfrm>
            <a:off x="-408076" y="260604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191604" y="2619688"/>
            <a:ext cx="52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588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4924" y="3136392"/>
            <a:ext cx="2740914" cy="34747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-408076" y="31363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Refinery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21558" y="3136392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327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4924" y="3666744"/>
            <a:ext cx="2237994" cy="34747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-408076" y="366674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Panels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18638" y="3666744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4924" y="4197096"/>
            <a:ext cx="854964" cy="347472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25" name="Text 23"/>
          <p:cNvSpPr/>
          <p:nvPr/>
        </p:nvSpPr>
        <p:spPr>
          <a:xfrm>
            <a:off x="-408076" y="419709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Mosque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635608" y="419709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806440" y="749808"/>
            <a:ext cx="3063240" cy="388620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897880" y="822960"/>
            <a:ext cx="2880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Dataset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943600" y="1325880"/>
            <a:ext cx="2743200" cy="777240"/>
          </a:xfrm>
          <a:prstGeom prst="rect">
            <a:avLst/>
          </a:prstGeom>
          <a:solidFill>
            <a:srgbClr val="0F2040"/>
          </a:solidFill>
          <a:ln/>
        </p:spPr>
      </p:sp>
      <p:sp>
        <p:nvSpPr>
          <p:cNvPr id="30" name="Shape 28"/>
          <p:cNvSpPr/>
          <p:nvPr/>
        </p:nvSpPr>
        <p:spPr>
          <a:xfrm>
            <a:off x="5943600" y="1325880"/>
            <a:ext cx="27432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1" name="Text 29"/>
          <p:cNvSpPr/>
          <p:nvPr/>
        </p:nvSpPr>
        <p:spPr>
          <a:xfrm>
            <a:off x="6035040" y="143560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086600" y="14356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 images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035040" y="172821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943600" y="2331720"/>
            <a:ext cx="2743200" cy="777240"/>
          </a:xfrm>
          <a:prstGeom prst="rect">
            <a:avLst/>
          </a:prstGeom>
          <a:solidFill>
            <a:srgbClr val="0F2040"/>
          </a:solidFill>
          <a:ln/>
        </p:spPr>
      </p:sp>
      <p:sp>
        <p:nvSpPr>
          <p:cNvPr id="35" name="Shape 33"/>
          <p:cNvSpPr/>
          <p:nvPr/>
        </p:nvSpPr>
        <p:spPr>
          <a:xfrm>
            <a:off x="5943600" y="2331720"/>
            <a:ext cx="274320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6" name="Text 34"/>
          <p:cNvSpPr/>
          <p:nvPr/>
        </p:nvSpPr>
        <p:spPr>
          <a:xfrm>
            <a:off x="6035040" y="24414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086600" y="24414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images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035040" y="273405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943600" y="3337560"/>
            <a:ext cx="2743200" cy="777240"/>
          </a:xfrm>
          <a:prstGeom prst="rect">
            <a:avLst/>
          </a:prstGeom>
          <a:solidFill>
            <a:srgbClr val="0F2040"/>
          </a:solidFill>
          <a:ln/>
        </p:spPr>
      </p:sp>
      <p:sp>
        <p:nvSpPr>
          <p:cNvPr id="40" name="Shape 38"/>
          <p:cNvSpPr/>
          <p:nvPr/>
        </p:nvSpPr>
        <p:spPr>
          <a:xfrm>
            <a:off x="5943600" y="3337560"/>
            <a:ext cx="27432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1" name="Text 39"/>
          <p:cNvSpPr/>
          <p:nvPr/>
        </p:nvSpPr>
        <p:spPr>
          <a:xfrm>
            <a:off x="6035040" y="344728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086600" y="34472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images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035040" y="373989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Dataset: Format YOLOv8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4114800" cy="393192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80467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Export Roboflow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6187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train/images/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88920" y="12618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Gambar training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17373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train/labels/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88920" y="17373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Label TXT training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221284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valid/images/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88920" y="221284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Gambar validasi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" y="268833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valid/labels/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88920" y="268833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Label TXT validasi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316382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test/images/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88920" y="31638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Gambar test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7200" y="363931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test/labels/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788920" y="363931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Label TXT test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41148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📄 data.yaml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88920" y="411480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Konfigurasi path + kelas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17720" y="749808"/>
            <a:ext cx="4251960" cy="18288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09160" y="822960"/>
            <a:ext cx="4069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Label YOLO (.txt)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09160" y="1234440"/>
            <a:ext cx="4023360" cy="502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0" y="12344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class_id  x_center  y_center  width  height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09160" y="182880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Contoh: 0  0.512  0.438  0.245  0.198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17720" y="2697480"/>
            <a:ext cx="4251960" cy="19659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709160" y="2761488"/>
            <a:ext cx="4069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data.yaml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754880" y="3127248"/>
            <a:ext cx="3977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05853AE9-48B4-494D-B0D6-189161F98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3056524"/>
            <a:ext cx="3658435" cy="155876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YOLOv8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8595360" cy="105156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841248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 Nano </a:t>
            </a:r>
            <a:r>
              <a:rPr lang="en-US" sz="2000" b="1" dirty="0" err="1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untuk</a:t>
            </a:r>
            <a:r>
              <a:rPr lang="en-US" sz="20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Object Detection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35331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ID" sz="1100" dirty="0">
                <a:solidFill>
                  <a:schemeClr val="bg1"/>
                </a:solidFill>
              </a:rPr>
              <a:t>Model </a:t>
            </a:r>
            <a:r>
              <a:rPr lang="en-ID" sz="1100" dirty="0" err="1">
                <a:solidFill>
                  <a:schemeClr val="bg1"/>
                </a:solidFill>
              </a:rPr>
              <a:t>pengganti</a:t>
            </a:r>
            <a:r>
              <a:rPr lang="en-ID" sz="1100" dirty="0">
                <a:solidFill>
                  <a:schemeClr val="bg1"/>
                </a:solidFill>
              </a:rPr>
              <a:t> </a:t>
            </a:r>
            <a:r>
              <a:rPr lang="en-ID" sz="1100" dirty="0" err="1">
                <a:solidFill>
                  <a:schemeClr val="bg1"/>
                </a:solidFill>
              </a:rPr>
              <a:t>pendekatan</a:t>
            </a:r>
            <a:r>
              <a:rPr lang="en-ID" sz="1100" dirty="0">
                <a:solidFill>
                  <a:schemeClr val="bg1"/>
                </a:solidFill>
              </a:rPr>
              <a:t> </a:t>
            </a:r>
            <a:r>
              <a:rPr lang="en-ID" sz="1100" dirty="0" err="1">
                <a:solidFill>
                  <a:schemeClr val="bg1"/>
                </a:solidFill>
              </a:rPr>
              <a:t>segmentasi</a:t>
            </a:r>
            <a:r>
              <a:rPr lang="en-ID" sz="1100" dirty="0">
                <a:solidFill>
                  <a:schemeClr val="bg1"/>
                </a:solidFill>
              </a:rPr>
              <a:t> U-Net agar </a:t>
            </a:r>
            <a:r>
              <a:rPr lang="en-ID" sz="1100" dirty="0" err="1">
                <a:solidFill>
                  <a:schemeClr val="bg1"/>
                </a:solidFill>
              </a:rPr>
              <a:t>dapat</a:t>
            </a:r>
            <a:r>
              <a:rPr lang="en-ID" sz="1100" dirty="0">
                <a:solidFill>
                  <a:schemeClr val="bg1"/>
                </a:solidFill>
              </a:rPr>
              <a:t> </a:t>
            </a:r>
            <a:r>
              <a:rPr lang="en-ID" sz="1100" dirty="0" err="1">
                <a:solidFill>
                  <a:schemeClr val="bg1"/>
                </a:solidFill>
              </a:rPr>
              <a:t>mendeteksi</a:t>
            </a:r>
            <a:r>
              <a:rPr lang="en-ID" sz="1100" dirty="0">
                <a:solidFill>
                  <a:schemeClr val="bg1"/>
                </a:solidFill>
              </a:rPr>
              <a:t> </a:t>
            </a:r>
            <a:r>
              <a:rPr lang="en-ID" sz="1100" dirty="0" err="1">
                <a:solidFill>
                  <a:schemeClr val="bg1"/>
                </a:solidFill>
              </a:rPr>
              <a:t>objek</a:t>
            </a:r>
            <a:r>
              <a:rPr lang="en-ID" sz="1100" dirty="0">
                <a:solidFill>
                  <a:schemeClr val="bg1"/>
                </a:solidFill>
              </a:rPr>
              <a:t> per </a:t>
            </a:r>
            <a:r>
              <a:rPr lang="en-ID" sz="1100" dirty="0" err="1">
                <a:solidFill>
                  <a:schemeClr val="bg1"/>
                </a:solidFill>
              </a:rPr>
              <a:t>kelas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274320" y="2011680"/>
            <a:ext cx="4206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2011680"/>
            <a:ext cx="420624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2121408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05840" y="21396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Ringan &amp; Cepat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" y="25603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Cocok untuk GPU GTX 1650 4GB dan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Out Of Memory.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2011680"/>
            <a:ext cx="4206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2011680"/>
            <a:ext cx="420624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5" name="Text 13"/>
          <p:cNvSpPr/>
          <p:nvPr/>
        </p:nvSpPr>
        <p:spPr>
          <a:xfrm>
            <a:off x="4800600" y="2121408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440680" y="21396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Cukup Akurat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40680" y="25603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 cukup baik untuk dataset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kecil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menuju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menengah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4320" y="3566160"/>
            <a:ext cx="4206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3566160"/>
            <a:ext cx="42062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675888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005840" y="36941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Setup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" y="41148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cukup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 baris kode untuk training.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09160" y="3566160"/>
            <a:ext cx="4206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09160" y="3566160"/>
            <a:ext cx="420624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4800600" y="3675888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440680" y="36941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 Weights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40680" y="41148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Menggunakan yolov8n.pt pretrained COCO,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biasa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disebut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transfer learning.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Training YOLOv8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5029200" cy="39319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822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training.py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11480" y="1170432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532120" y="777240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Penjelasan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32120" y="1188720"/>
            <a:ext cx="3337560" cy="402336"/>
          </a:xfrm>
          <a:prstGeom prst="rect">
            <a:avLst/>
          </a:prstGeom>
          <a:solidFill>
            <a:srgbClr val="0F2040"/>
          </a:solidFill>
          <a:ln/>
        </p:spPr>
      </p:sp>
      <p:sp>
        <p:nvSpPr>
          <p:cNvPr id="10" name="Text 8"/>
          <p:cNvSpPr/>
          <p:nvPr/>
        </p:nvSpPr>
        <p:spPr>
          <a:xfrm>
            <a:off x="5596128" y="12344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931152" y="12344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konfigurasi dataset YAML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532120" y="1664208"/>
            <a:ext cx="3337560" cy="402336"/>
          </a:xfrm>
          <a:prstGeom prst="rect">
            <a:avLst/>
          </a:prstGeom>
          <a:solidFill>
            <a:srgbClr val="0D1E35"/>
          </a:solidFill>
          <a:ln/>
        </p:spPr>
      </p:sp>
      <p:sp>
        <p:nvSpPr>
          <p:cNvPr id="13" name="Text 11"/>
          <p:cNvSpPr/>
          <p:nvPr/>
        </p:nvSpPr>
        <p:spPr>
          <a:xfrm>
            <a:off x="5596128" y="170992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epochs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931152" y="17099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jumlah iterasi training (100)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532120" y="2139696"/>
            <a:ext cx="3337560" cy="402336"/>
          </a:xfrm>
          <a:prstGeom prst="rect">
            <a:avLst/>
          </a:prstGeom>
          <a:solidFill>
            <a:srgbClr val="0F2040"/>
          </a:solidFill>
          <a:ln/>
        </p:spPr>
      </p:sp>
      <p:sp>
        <p:nvSpPr>
          <p:cNvPr id="16" name="Text 14"/>
          <p:cNvSpPr/>
          <p:nvPr/>
        </p:nvSpPr>
        <p:spPr>
          <a:xfrm>
            <a:off x="5596128" y="2185416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imgsz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931152" y="21854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input gambar (640×640)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32120" y="2615184"/>
            <a:ext cx="3337560" cy="402336"/>
          </a:xfrm>
          <a:prstGeom prst="rect">
            <a:avLst/>
          </a:prstGeom>
          <a:solidFill>
            <a:srgbClr val="0D1E35"/>
          </a:solidFill>
          <a:ln/>
        </p:spPr>
      </p:sp>
      <p:sp>
        <p:nvSpPr>
          <p:cNvPr id="19" name="Text 17"/>
          <p:cNvSpPr/>
          <p:nvPr/>
        </p:nvSpPr>
        <p:spPr>
          <a:xfrm>
            <a:off x="5596128" y="266090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batch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931152" y="2660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per batch (4); </a:t>
            </a:r>
            <a:r>
              <a:rPr lang="en-US" sz="9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lebih</a:t>
            </a: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</a:t>
            </a: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VRAM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32120" y="3090672"/>
            <a:ext cx="3337560" cy="402336"/>
          </a:xfrm>
          <a:prstGeom prst="rect">
            <a:avLst/>
          </a:prstGeom>
          <a:solidFill>
            <a:srgbClr val="0F2040"/>
          </a:solidFill>
          <a:ln/>
        </p:spPr>
      </p:sp>
      <p:sp>
        <p:nvSpPr>
          <p:cNvPr id="22" name="Text 20"/>
          <p:cNvSpPr/>
          <p:nvPr/>
        </p:nvSpPr>
        <p:spPr>
          <a:xfrm>
            <a:off x="5596128" y="3136392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workers=0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931152" y="31363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 di Windows, hindari error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532120" y="3566160"/>
            <a:ext cx="3337560" cy="402336"/>
          </a:xfrm>
          <a:prstGeom prst="rect">
            <a:avLst/>
          </a:prstGeom>
          <a:solidFill>
            <a:srgbClr val="0D1E35"/>
          </a:solidFill>
          <a:ln/>
        </p:spPr>
      </p:sp>
      <p:sp>
        <p:nvSpPr>
          <p:cNvPr id="25" name="Text 23"/>
          <p:cNvSpPr/>
          <p:nvPr/>
        </p:nvSpPr>
        <p:spPr>
          <a:xfrm>
            <a:off x="5596128" y="361188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device=0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931152" y="36118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pakai GPU NVIDIA (cuda:0)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4041648"/>
            <a:ext cx="3337560" cy="402336"/>
          </a:xfrm>
          <a:prstGeom prst="rect">
            <a:avLst/>
          </a:prstGeom>
          <a:solidFill>
            <a:srgbClr val="0F2040"/>
          </a:solidFill>
          <a:ln/>
        </p:spPr>
      </p:sp>
      <p:sp>
        <p:nvSpPr>
          <p:cNvPr id="28" name="Text 26"/>
          <p:cNvSpPr/>
          <p:nvPr/>
        </p:nvSpPr>
        <p:spPr>
          <a:xfrm>
            <a:off x="5596128" y="40873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67E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patience=20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931152" y="408736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 jika tidak ada progress</a:t>
            </a:r>
            <a:endParaRPr lang="en-US" sz="900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AE530E9A-FB10-41D6-959A-1541665AB3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61872"/>
            <a:ext cx="3035143" cy="322270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Kendala Teknis saat Training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859536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49808"/>
            <a:ext cx="54864" cy="1188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" y="841248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8412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737360" y="822960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Multiprocessing Error di Windows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1252728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" y="125272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737360" y="1234440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Bungkus script dengan if __name__ == '__main__': agar tidak fork proses secara tidak benar.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075688"/>
            <a:ext cx="859536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075688"/>
            <a:ext cx="54864" cy="1188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Shape 13"/>
          <p:cNvSpPr/>
          <p:nvPr/>
        </p:nvSpPr>
        <p:spPr>
          <a:xfrm>
            <a:off x="438912" y="2167128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438912" y="216712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737360" y="2148840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Paging File Windows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8912" y="2578608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438912" y="257860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737360" y="2560320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Kurangi batch size ke 4 dan gunakan workers=0 untuk mengurangi memori yang diminta.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3401568"/>
            <a:ext cx="859536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401568"/>
            <a:ext cx="54864" cy="1188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23" name="Shape 21"/>
          <p:cNvSpPr/>
          <p:nvPr/>
        </p:nvSpPr>
        <p:spPr>
          <a:xfrm>
            <a:off x="438912" y="3493008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667EEA"/>
          </a:solidFill>
          <a:ln/>
        </p:spPr>
      </p:sp>
      <p:sp>
        <p:nvSpPr>
          <p:cNvPr id="24" name="Text 22"/>
          <p:cNvSpPr/>
          <p:nvPr/>
        </p:nvSpPr>
        <p:spPr>
          <a:xfrm>
            <a:off x="438912" y="349300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737360" y="3474720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 Warning pada GTX 1650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8912" y="3904488"/>
            <a:ext cx="1188720" cy="2743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</p:sp>
      <p:sp>
        <p:nvSpPr>
          <p:cNvPr id="27" name="Text 25"/>
          <p:cNvSpPr/>
          <p:nvPr/>
        </p:nvSpPr>
        <p:spPr>
          <a:xfrm>
            <a:off x="438912" y="390448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737360" y="3886200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otomatis menonaktifkan AMP pada GPU yang tidak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mendukung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sehingga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training tetap berjalan normal.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74320" y="4727448"/>
            <a:ext cx="8595360" cy="292608"/>
          </a:xfrm>
          <a:prstGeom prst="rect">
            <a:avLst/>
          </a:prstGeom>
          <a:solidFill>
            <a:srgbClr val="10B981">
              <a:alpha val="2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411480" y="47274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Training berhasil berjalan menggunakan GPU NVIDIA GeForce GTX 1650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Training: Dataset Akhir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241 gambar · 1,284 anotasi · 4 kelas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24128"/>
            <a:ext cx="4206240" cy="17373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24128"/>
            <a:ext cx="4206240" cy="64008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88720"/>
            <a:ext cx="18288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0.911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331720" y="116128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331720" y="16184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91.1%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1031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Sebagian besar prediksi model benar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1024128"/>
            <a:ext cx="4206240" cy="17373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1024128"/>
            <a:ext cx="4206240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188720"/>
            <a:ext cx="18288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0.772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766560" y="116128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766560" y="16184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77.2%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21031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</a:t>
            </a:r>
            <a:r>
              <a:rPr lang="en-US" sz="10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mendeteksi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77,2% objek yang ada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2990088"/>
            <a:ext cx="4206240" cy="17373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990088"/>
            <a:ext cx="420624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3154680"/>
            <a:ext cx="18288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0.848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2331720" y="312724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331720" y="3584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84.8%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40690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 deteksi pada IoU ≥ 0.50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2990088"/>
            <a:ext cx="4206240" cy="17373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2990088"/>
            <a:ext cx="420624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4846320" y="3154680"/>
            <a:ext cx="18288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0.739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6766560" y="312724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mAP50-95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66560" y="3584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73.9%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46320" y="40690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 ketat pada IoU 0.50–0.95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Evaluasi per Kelas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8321040" cy="4114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74980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Kelas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377440" y="749808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0" y="749808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0" y="749808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6560" y="749808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mAP50-95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207008"/>
            <a:ext cx="832104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207008"/>
            <a:ext cx="54864" cy="71323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12984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Home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514600" y="135331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F59E0B">
              <a:alpha val="2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2377440" y="129844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977640" y="135331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EF4444">
              <a:alpha val="2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3840480" y="129844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40680" y="135331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F59E0B">
              <a:alpha val="2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0" y="129844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0.703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903720" y="135331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EF4444">
              <a:alpha val="2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129844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0.528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74320" y="1984248"/>
            <a:ext cx="8321040" cy="71323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3" name="Shape 21"/>
          <p:cNvSpPr/>
          <p:nvPr/>
        </p:nvSpPr>
        <p:spPr>
          <a:xfrm>
            <a:off x="274320" y="1984248"/>
            <a:ext cx="54864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/>
          <p:nvPr/>
        </p:nvSpPr>
        <p:spPr>
          <a:xfrm>
            <a:off x="411480" y="207568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🛢️ Oil Refinery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13055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2377440" y="207568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0.998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977640" y="213055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3840480" y="207568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40680" y="213055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5303520" y="207568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0.995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903720" y="213055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6766560" y="207568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0.958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74320" y="2761488"/>
            <a:ext cx="832104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274320" y="2761488"/>
            <a:ext cx="54864" cy="71323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5" name="Text 33"/>
          <p:cNvSpPr/>
          <p:nvPr/>
        </p:nvSpPr>
        <p:spPr>
          <a:xfrm>
            <a:off x="411480" y="285292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☀️ Solar Panels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514600" y="290779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F59E0B">
              <a:alpha val="2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2377440" y="285292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0.869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977640" y="290779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3840480" y="285292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0.935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440680" y="290779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5303520" y="285292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0.951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6903720" y="290779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F59E0B">
              <a:alpha val="20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6766560" y="285292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0.802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74320" y="3538728"/>
            <a:ext cx="8321040" cy="71323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5" name="Shape 43"/>
          <p:cNvSpPr/>
          <p:nvPr/>
        </p:nvSpPr>
        <p:spPr>
          <a:xfrm>
            <a:off x="274320" y="3538728"/>
            <a:ext cx="54864" cy="713232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46" name="Text 44"/>
          <p:cNvSpPr/>
          <p:nvPr/>
        </p:nvSpPr>
        <p:spPr>
          <a:xfrm>
            <a:off x="411480" y="363016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🕌 Mosque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14600" y="368503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2377440" y="363016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0.913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977640" y="368503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EF4444">
              <a:alpha val="20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3840480" y="363016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0.619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5440680" y="368503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F59E0B">
              <a:alpha val="20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5303520" y="363016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0.742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903720" y="3685032"/>
            <a:ext cx="1051560" cy="402336"/>
          </a:xfrm>
          <a:prstGeom prst="roundRect">
            <a:avLst>
              <a:gd name="adj" fmla="val 18182"/>
            </a:avLst>
          </a:prstGeom>
          <a:solidFill>
            <a:srgbClr val="EF4444">
              <a:alpha val="20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6766560" y="363016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0.668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274320" y="4297680"/>
            <a:ext cx="8321040" cy="621792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11480" y="4343400"/>
            <a:ext cx="8092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Oil Refinery dan Solar Panels performa terbaik. Home dan Mosque perlu lebih banyak variasi data.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Confusion Matrix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8595360" cy="8229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04672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144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🛢️ Oil Refinery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697480" y="941832"/>
            <a:ext cx="1188720" cy="274320"/>
          </a:xfrm>
          <a:prstGeom prst="roundRect">
            <a:avLst>
              <a:gd name="adj" fmla="val 23333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2697480" y="94183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Bagus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023360" y="923544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Hampir seluruhnya terdeteksi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benar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sehingga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performa hampir sempurna.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792224"/>
            <a:ext cx="8595360" cy="8229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792224"/>
            <a:ext cx="54864" cy="8229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190195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☀️ Solar Panels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697480" y="1929384"/>
            <a:ext cx="1188720" cy="274320"/>
          </a:xfrm>
          <a:prstGeom prst="roundRect">
            <a:avLst>
              <a:gd name="adj" fmla="val 23333"/>
            </a:avLst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2697480" y="192938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Bagus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023360" y="1911096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Tingkat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deteksinya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tergolong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tinggi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dikarenakan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pola visual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unik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yang memudahkan model.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2779776"/>
            <a:ext cx="8595360" cy="8229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2779776"/>
            <a:ext cx="54864" cy="82296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2889504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Home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697480" y="2916936"/>
            <a:ext cx="1188720" cy="274320"/>
          </a:xfrm>
          <a:prstGeom prst="roundRect">
            <a:avLst>
              <a:gd name="adj" fmla="val 23333"/>
            </a:avLst>
          </a:prstGeom>
          <a:solidFill>
            <a:schemeClr val="accent4">
              <a:lumMod val="75000"/>
            </a:schemeClr>
          </a:solidFill>
          <a:ln/>
        </p:spPr>
      </p:sp>
      <p:sp>
        <p:nvSpPr>
          <p:cNvPr id="21" name="Text 19"/>
          <p:cNvSpPr/>
          <p:nvPr/>
        </p:nvSpPr>
        <p:spPr>
          <a:xfrm>
            <a:off x="2697480" y="291693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Perlu Perbaikan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023360" y="28986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Beberapa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seringkali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masuk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background, variasi bentuk atap tinggi.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4320" y="3767328"/>
            <a:ext cx="8595360" cy="8229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3767328"/>
            <a:ext cx="54864" cy="822960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877056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64B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🕌 Mosque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97480" y="3904488"/>
            <a:ext cx="1188720" cy="274320"/>
          </a:xfrm>
          <a:prstGeom prst="roundRect">
            <a:avLst>
              <a:gd name="adj" fmla="val 23333"/>
            </a:avLst>
          </a:prstGeom>
          <a:solidFill>
            <a:schemeClr val="accent4">
              <a:lumMod val="75000"/>
            </a:schemeClr>
          </a:solidFill>
          <a:ln/>
        </p:spPr>
      </p:sp>
      <p:sp>
        <p:nvSpPr>
          <p:cNvPr id="27" name="Text 25"/>
          <p:cNvSpPr/>
          <p:nvPr/>
        </p:nvSpPr>
        <p:spPr>
          <a:xfrm>
            <a:off x="2697480" y="390448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Perlu Perbaikan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023360" y="388620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Beberapa objek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terdeteksi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dataset masih terbatas.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74320" y="4773168"/>
            <a:ext cx="8595360" cy="256032"/>
          </a:xfrm>
          <a:prstGeom prst="rect">
            <a:avLst/>
          </a:prstGeom>
          <a:solidFill>
            <a:srgbClr val="0D1E35"/>
          </a:solidFill>
          <a:ln/>
        </p:spPr>
      </p:sp>
      <p:sp>
        <p:nvSpPr>
          <p:cNvPr id="30" name="Text 28"/>
          <p:cNvSpPr/>
          <p:nvPr/>
        </p:nvSpPr>
        <p:spPr>
          <a:xfrm>
            <a:off x="411480" y="477316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utama: bukan salah klasifikasi antar kelas, melainkan objek Home/Mosque tidak terdeteksi (masuk background).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Grafik Training</a:t>
            </a:r>
            <a:endParaRPr lang="en-US" sz="26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749808"/>
          <a:ext cx="502920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274320" y="3401568"/>
          <a:ext cx="502920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5532120" y="804672"/>
            <a:ext cx="33375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5577840" y="896112"/>
            <a:ext cx="502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📉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6126480" y="89611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Loss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6126480" y="124358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loss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menurun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konsisten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pada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box_loss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cls_loss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dan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dfl_loss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532120" y="1828800"/>
            <a:ext cx="33375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5577840" y="1920240"/>
            <a:ext cx="502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📉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6126480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Loss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126480" y="226771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Menurun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secara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umum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dengan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sedikit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fluktuasi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pada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akhir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training;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menunjukkan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overfitting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berat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532120" y="2852928"/>
            <a:ext cx="33375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D" dirty="0"/>
          </a:p>
        </p:txBody>
      </p:sp>
      <p:sp>
        <p:nvSpPr>
          <p:cNvPr id="16" name="Text 12"/>
          <p:cNvSpPr/>
          <p:nvPr/>
        </p:nvSpPr>
        <p:spPr>
          <a:xfrm>
            <a:off x="5577840" y="2944368"/>
            <a:ext cx="502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612648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6126480" y="3291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ID" sz="1000" dirty="0"/>
              <a:t>Naik </a:t>
            </a:r>
            <a:r>
              <a:rPr lang="en-ID" sz="1000" dirty="0" err="1"/>
              <a:t>hingga</a:t>
            </a:r>
            <a:r>
              <a:rPr lang="en-ID" sz="1000" dirty="0"/>
              <a:t> </a:t>
            </a:r>
            <a:r>
              <a:rPr lang="en-ID" sz="1000" dirty="0" err="1"/>
              <a:t>performa</a:t>
            </a:r>
            <a:r>
              <a:rPr lang="en-ID" sz="1000" dirty="0"/>
              <a:t> </a:t>
            </a:r>
            <a:r>
              <a:rPr lang="en-ID" sz="1000" dirty="0" err="1"/>
              <a:t>terbaik</a:t>
            </a:r>
            <a:r>
              <a:rPr lang="en-ID" sz="1000" dirty="0"/>
              <a:t> di epoch 69, </a:t>
            </a:r>
            <a:r>
              <a:rPr lang="en-ID" sz="1000" dirty="0" err="1"/>
              <a:t>lalu</a:t>
            </a:r>
            <a:r>
              <a:rPr lang="en-ID" sz="1000" dirty="0"/>
              <a:t> </a:t>
            </a:r>
            <a:r>
              <a:rPr lang="en-ID" sz="1000" dirty="0" err="1"/>
              <a:t>sedikit</a:t>
            </a:r>
            <a:r>
              <a:rPr lang="en-ID" sz="1000" dirty="0"/>
              <a:t> </a:t>
            </a:r>
            <a:r>
              <a:rPr lang="en-ID" sz="1000" dirty="0" err="1"/>
              <a:t>menurun</a:t>
            </a:r>
            <a:r>
              <a:rPr lang="en-ID" sz="1000" dirty="0"/>
              <a:t> pada </a:t>
            </a:r>
            <a:r>
              <a:rPr lang="en-ID" sz="1000" dirty="0" err="1"/>
              <a:t>akhir</a:t>
            </a:r>
            <a:r>
              <a:rPr lang="en-ID" sz="1000" dirty="0"/>
              <a:t> training.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532120" y="3877056"/>
            <a:ext cx="33375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5577840" y="3968496"/>
            <a:ext cx="502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🛑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6126480" y="396849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6126480" y="4315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terjadi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pada epoch 89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karena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peningkatan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selama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 epoch.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diperoleh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pada epoch 69.</a:t>
            </a:r>
            <a:endParaRPr lang="en-US" sz="10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0B651DA-B541-4C82-9282-3705F5AB92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835533"/>
            <a:ext cx="4777740" cy="238887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Implementasi Web App: Streamlit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2651760" cy="1664208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04672"/>
            <a:ext cx="2651760" cy="64008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144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📤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24128" y="94183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Gambar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58191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&amp; drop citra satelit format PNG, JPG, atau TIF.</a:t>
            </a:r>
            <a:endParaRPr lang="en-US" sz="950" b="1" dirty="0"/>
          </a:p>
        </p:txBody>
      </p:sp>
      <p:sp>
        <p:nvSpPr>
          <p:cNvPr id="10" name="Shape 8"/>
          <p:cNvSpPr/>
          <p:nvPr/>
        </p:nvSpPr>
        <p:spPr>
          <a:xfrm>
            <a:off x="3154680" y="804672"/>
            <a:ext cx="2651760" cy="1664208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804672"/>
            <a:ext cx="2651760" cy="64008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2" name="Text 10"/>
          <p:cNvSpPr/>
          <p:nvPr/>
        </p:nvSpPr>
        <p:spPr>
          <a:xfrm>
            <a:off x="3246120" y="9144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🧠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904488" y="94183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Inference</a:t>
            </a:r>
            <a:endParaRPr lang="en-US" sz="1200" b="1" dirty="0"/>
          </a:p>
        </p:txBody>
      </p:sp>
      <p:sp>
        <p:nvSpPr>
          <p:cNvPr id="14" name="Text 12"/>
          <p:cNvSpPr/>
          <p:nvPr/>
        </p:nvSpPr>
        <p:spPr>
          <a:xfrm>
            <a:off x="3246120" y="158191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YOLOv8 melakukan deteksi multi-class secara real-time.</a:t>
            </a:r>
            <a:endParaRPr lang="en-US" sz="950" b="1" dirty="0"/>
          </a:p>
        </p:txBody>
      </p:sp>
      <p:sp>
        <p:nvSpPr>
          <p:cNvPr id="15" name="Shape 13"/>
          <p:cNvSpPr/>
          <p:nvPr/>
        </p:nvSpPr>
        <p:spPr>
          <a:xfrm>
            <a:off x="6035040" y="804672"/>
            <a:ext cx="2651760" cy="1664208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804672"/>
            <a:ext cx="2651760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9144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🔲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84848" y="94183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26480" y="158191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objek terdeteksi diberi kotak warna berbeda per kelas.</a:t>
            </a:r>
            <a:endParaRPr lang="en-US" sz="950" b="1" dirty="0"/>
          </a:p>
        </p:txBody>
      </p:sp>
      <p:sp>
        <p:nvSpPr>
          <p:cNvPr id="20" name="Shape 18"/>
          <p:cNvSpPr/>
          <p:nvPr/>
        </p:nvSpPr>
        <p:spPr>
          <a:xfrm>
            <a:off x="274320" y="2724912"/>
            <a:ext cx="2651760" cy="1664208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2724912"/>
            <a:ext cx="265176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28346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024128" y="28620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per Kelas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350215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menghitung jumlah tiap kelas secara otomatis.</a:t>
            </a:r>
            <a:endParaRPr lang="en-US" sz="950" b="1" dirty="0"/>
          </a:p>
        </p:txBody>
      </p:sp>
      <p:sp>
        <p:nvSpPr>
          <p:cNvPr id="25" name="Shape 23"/>
          <p:cNvSpPr/>
          <p:nvPr/>
        </p:nvSpPr>
        <p:spPr>
          <a:xfrm>
            <a:off x="3154680" y="2724912"/>
            <a:ext cx="2651760" cy="1664208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2724912"/>
            <a:ext cx="265176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Text 25"/>
          <p:cNvSpPr/>
          <p:nvPr/>
        </p:nvSpPr>
        <p:spPr>
          <a:xfrm>
            <a:off x="3246120" y="28346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3904488" y="28620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 Ringkasan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46120" y="350215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Tampilkan tabel dengan nama kelas, jumlah, dan confidence, </a:t>
            </a:r>
            <a:r>
              <a:rPr lang="en-US" sz="950" b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serta</a:t>
            </a: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b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terdapat</a:t>
            </a: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detail </a:t>
            </a:r>
            <a:r>
              <a:rPr lang="en-US" sz="950" b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</a:t>
            </a: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950" b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Keduanya</a:t>
            </a: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b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dapat</a:t>
            </a: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b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didownload</a:t>
            </a: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b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menjadi</a:t>
            </a: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.csv. </a:t>
            </a:r>
            <a:endParaRPr lang="en-US" sz="950" b="1" dirty="0"/>
          </a:p>
        </p:txBody>
      </p:sp>
      <p:sp>
        <p:nvSpPr>
          <p:cNvPr id="30" name="Shape 28"/>
          <p:cNvSpPr/>
          <p:nvPr/>
        </p:nvSpPr>
        <p:spPr>
          <a:xfrm>
            <a:off x="6035040" y="2724912"/>
            <a:ext cx="2651760" cy="1664208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035040" y="2724912"/>
            <a:ext cx="2651760" cy="64008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2" name="Text 30"/>
          <p:cNvSpPr/>
          <p:nvPr/>
        </p:nvSpPr>
        <p:spPr>
          <a:xfrm>
            <a:off x="6126480" y="28346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⬇️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6784848" y="28620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Hasil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126480" y="350215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gambar hasil deteksi bounding box sebagai PNG.</a:t>
            </a:r>
            <a:endParaRPr lang="en-US" sz="950" b="1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0" y="54864"/>
            <a:ext cx="5532120" cy="5038344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D" dirty="0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</a:t>
            </a: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</a:t>
            </a: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260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609373" y="48234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YOLO/src/app.py — core logic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11480" y="1143000"/>
            <a:ext cx="48006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532120" y="777240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 Utama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32120" y="1170432"/>
            <a:ext cx="333756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5596128" y="12161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16752" y="12161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Config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16752" y="14173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layout, title, icon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532120" y="1627632"/>
            <a:ext cx="3337560" cy="402336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4" name="Text 12"/>
          <p:cNvSpPr/>
          <p:nvPr/>
        </p:nvSpPr>
        <p:spPr>
          <a:xfrm>
            <a:off x="5596128" y="16733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016752" y="1673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Model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016752" y="18745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YOLO('models/best.pt') + cache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532120" y="2084832"/>
            <a:ext cx="333756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596128" y="21305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16752" y="21305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16752" y="23317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&amp; drop gambar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532120" y="2542032"/>
            <a:ext cx="3337560" cy="402336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2" name="Text 20"/>
          <p:cNvSpPr/>
          <p:nvPr/>
        </p:nvSpPr>
        <p:spPr>
          <a:xfrm>
            <a:off x="5596128" y="25877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016752" y="25877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16752" y="27889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 gambar → numpy array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532120" y="2999232"/>
            <a:ext cx="333756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5596128" y="30449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016752" y="3044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016752" y="32461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model.predict() → results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532120" y="3456432"/>
            <a:ext cx="3337560" cy="402336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0" name="Text 28"/>
          <p:cNvSpPr/>
          <p:nvPr/>
        </p:nvSpPr>
        <p:spPr>
          <a:xfrm>
            <a:off x="5596128" y="35021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016752" y="35021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per Class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016752" y="37033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Hitung objek per kelas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532120" y="3913632"/>
            <a:ext cx="333756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596128" y="39593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016752" y="3959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Visualisasi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016752" y="41605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results.plot() bounding box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532120" y="4370832"/>
            <a:ext cx="3337560" cy="402336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5596128" y="44165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016752" y="44165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016752" y="46177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BytesIO → st.download_button</a:t>
            </a:r>
            <a:endParaRPr lang="en-US" sz="850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426A8C26-BBF2-482B-82A2-F7ABB618D0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355" y="722184"/>
            <a:ext cx="2228439" cy="1234568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15B4244A-C0CB-4E25-8E30-054D62BE8B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76" y="2082683"/>
            <a:ext cx="2280118" cy="149112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B7C7E723-C013-4905-9A89-54355993B6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6061" y="742127"/>
            <a:ext cx="2508192" cy="878038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5AA38151-FC25-4859-A3F2-4BF667DD2E9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811" r="42083"/>
          <a:stretch/>
        </p:blipFill>
        <p:spPr>
          <a:xfrm>
            <a:off x="2876181" y="1732310"/>
            <a:ext cx="2494232" cy="242411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0" y="54864"/>
            <a:ext cx="5532120" cy="5038344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ID" dirty="0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</a:t>
            </a: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</a:t>
            </a: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260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609373" y="48234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YOLO/src/app.py — core logic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11480" y="1143000"/>
            <a:ext cx="48006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532120" y="777240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 Utama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32120" y="1170432"/>
            <a:ext cx="333756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5596128" y="12161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16752" y="12161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Config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16752" y="14173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layout, title, icon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532120" y="1627632"/>
            <a:ext cx="3337560" cy="402336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4" name="Text 12"/>
          <p:cNvSpPr/>
          <p:nvPr/>
        </p:nvSpPr>
        <p:spPr>
          <a:xfrm>
            <a:off x="5596128" y="16733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016752" y="1673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Model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016752" y="18745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YOLO('models/best.pt') + cache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532120" y="2084832"/>
            <a:ext cx="333756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596128" y="21305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16752" y="21305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16752" y="23317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&amp; drop gambar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532120" y="2542032"/>
            <a:ext cx="3337560" cy="402336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2" name="Text 20"/>
          <p:cNvSpPr/>
          <p:nvPr/>
        </p:nvSpPr>
        <p:spPr>
          <a:xfrm>
            <a:off x="5596128" y="25877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016752" y="25877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16752" y="27889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 gambar → numpy array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532120" y="2999232"/>
            <a:ext cx="333756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5596128" y="30449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016752" y="3044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016752" y="32461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model.predict() → results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532120" y="3456432"/>
            <a:ext cx="3337560" cy="402336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0" name="Text 28"/>
          <p:cNvSpPr/>
          <p:nvPr/>
        </p:nvSpPr>
        <p:spPr>
          <a:xfrm>
            <a:off x="5596128" y="35021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016752" y="35021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per Class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016752" y="37033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Hitung objek per kelas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532120" y="3913632"/>
            <a:ext cx="333756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596128" y="39593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016752" y="3959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Visualisasi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016752" y="41605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results.plot() bounding box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532120" y="4370832"/>
            <a:ext cx="3337560" cy="402336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5596128" y="441655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016752" y="44165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016752" y="461772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BytesIO → st.download_button</a:t>
            </a:r>
            <a:endParaRPr lang="en-US" sz="850" dirty="0"/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BFFFBDB9-F429-4403-8F24-873FACE9E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755523"/>
            <a:ext cx="2769829" cy="2384298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98CCF2B3-AA3D-4196-8774-348EC4E222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4222" y="758935"/>
            <a:ext cx="2520738" cy="2384298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30A1DE7F-33D1-4DE1-ADD7-15B02B6D21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" y="3277342"/>
            <a:ext cx="2326965" cy="1479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1436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Threshold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threshold menentukan batas minimum keyakinan model untuk menampilkan hasil deteksi.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651760" cy="32004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2651760" cy="6400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261872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74320" y="221284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269748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Lebih banyak objek terdeteksi.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meningkat.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Cocok untuk eksplorasi.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913632"/>
            <a:ext cx="2103120" cy="274320"/>
          </a:xfrm>
          <a:prstGeom prst="roundRect">
            <a:avLst>
              <a:gd name="adj" fmla="val 26667"/>
            </a:avLst>
          </a:prstGeom>
          <a:solidFill>
            <a:srgbClr val="EF4444">
              <a:alpha val="3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9136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Terlalu sensitif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54680" y="1097280"/>
            <a:ext cx="2651760" cy="32004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54680" y="1097280"/>
            <a:ext cx="265176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3154680" y="1261872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3154680" y="221284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46120" y="269748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Keseimbangan antara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presisi dan sensitivitas.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rekomendasi.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429000" y="3913632"/>
            <a:ext cx="2103120" cy="274320"/>
          </a:xfrm>
          <a:prstGeom prst="roundRect">
            <a:avLst>
              <a:gd name="adj" fmla="val 26667"/>
            </a:avLst>
          </a:prstGeom>
          <a:solidFill>
            <a:srgbClr val="10B981">
              <a:alpha val="3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429000" y="39136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Direkomendasikan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35040" y="1097280"/>
            <a:ext cx="2651760" cy="320040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035040" y="1097280"/>
            <a:ext cx="2651760" cy="64008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22" name="Text 20"/>
          <p:cNvSpPr/>
          <p:nvPr/>
        </p:nvSpPr>
        <p:spPr>
          <a:xfrm>
            <a:off x="6035040" y="1261872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035040" y="221284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Ketat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126480" y="269748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lebih bersih.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 kecil bisa terlewat.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Cocok untuk demo resmi.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09360" y="3913632"/>
            <a:ext cx="2103120" cy="274320"/>
          </a:xfrm>
          <a:prstGeom prst="roundRect">
            <a:avLst>
              <a:gd name="adj" fmla="val 26667"/>
            </a:avLst>
          </a:prstGeom>
          <a:solidFill>
            <a:srgbClr val="667EEA">
              <a:alpha val="3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39136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Untuk demo bersih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370832"/>
            <a:ext cx="8595360" cy="347472"/>
          </a:xfrm>
          <a:prstGeom prst="rect">
            <a:avLst/>
          </a:prstGeom>
          <a:solidFill>
            <a:srgbClr val="0D1E35"/>
          </a:solidFill>
          <a:ln/>
        </p:spPr>
      </p:sp>
      <p:sp>
        <p:nvSpPr>
          <p:cNvPr id="28" name="Text 26"/>
          <p:cNvSpPr/>
          <p:nvPr/>
        </p:nvSpPr>
        <p:spPr>
          <a:xfrm>
            <a:off x="411480" y="4370832"/>
            <a:ext cx="8321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Slider confidence threshold dapat ditambahkan di Streamlit agar pengguna bisa menyesuaikan sensitivitas secara interaktif.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Sistem End-to-End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1325880" cy="320040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005840"/>
            <a:ext cx="132588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" y="1170432"/>
            <a:ext cx="1325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📤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28600" y="19202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2423160"/>
            <a:ext cx="1234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upload citra satelit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554480" y="2148840"/>
            <a:ext cx="137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67EEA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91640" y="1005840"/>
            <a:ext cx="1325880" cy="320040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691640" y="1005840"/>
            <a:ext cx="132588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3" name="Text 11"/>
          <p:cNvSpPr/>
          <p:nvPr/>
        </p:nvSpPr>
        <p:spPr>
          <a:xfrm>
            <a:off x="1691640" y="1170432"/>
            <a:ext cx="1325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🔄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19202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737360" y="2423160"/>
            <a:ext cx="1234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→ numpy array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017520" y="2148840"/>
            <a:ext cx="137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67EEA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154680" y="1005840"/>
            <a:ext cx="1325880" cy="320040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154680" y="1005840"/>
            <a:ext cx="1325880" cy="54864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9" name="Text 17"/>
          <p:cNvSpPr/>
          <p:nvPr/>
        </p:nvSpPr>
        <p:spPr>
          <a:xfrm>
            <a:off x="3154680" y="1170432"/>
            <a:ext cx="1325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3154680" y="19202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00400" y="2423160"/>
            <a:ext cx="1234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deteksi objek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80560" y="2148840"/>
            <a:ext cx="137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67EEA"/>
                </a:solidFill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617720" y="1005840"/>
            <a:ext cx="1325880" cy="320040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17720" y="1005840"/>
            <a:ext cx="13258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1170432"/>
            <a:ext cx="1325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🔲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4617720" y="19202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663440" y="2423160"/>
            <a:ext cx="1234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kotak per objek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43600" y="2148840"/>
            <a:ext cx="137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67EEA"/>
                </a:solidFill>
              </a:rPr>
              <a:t>→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080760" y="1005840"/>
            <a:ext cx="1325880" cy="320040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80760" y="1005840"/>
            <a:ext cx="132588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1" name="Text 29"/>
          <p:cNvSpPr/>
          <p:nvPr/>
        </p:nvSpPr>
        <p:spPr>
          <a:xfrm>
            <a:off x="6080760" y="1170432"/>
            <a:ext cx="1325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6080760" y="19202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126480" y="2423160"/>
            <a:ext cx="1234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Hitung per kelas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406640" y="2148840"/>
            <a:ext cx="137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67EEA"/>
                </a:solidFill>
              </a:rPr>
              <a:t>→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543800" y="1005840"/>
            <a:ext cx="1325880" cy="3200400"/>
          </a:xfrm>
          <a:prstGeom prst="rect">
            <a:avLst/>
          </a:prstGeom>
          <a:solidFill>
            <a:srgbClr val="0A16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543800" y="1005840"/>
            <a:ext cx="1325880" cy="5486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7" name="Text 35"/>
          <p:cNvSpPr/>
          <p:nvPr/>
        </p:nvSpPr>
        <p:spPr>
          <a:xfrm>
            <a:off x="7543800" y="1170432"/>
            <a:ext cx="1325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⬇️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7543800" y="19202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589520" y="2423160"/>
            <a:ext cx="1234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hasil PNG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74320" y="4389120"/>
            <a:ext cx="85953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4443984"/>
            <a:ext cx="8321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Image  →  Preprocessing  →  YOLOv8 Detection  →  Bounding Box  →  Count per Class  →  Download Result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Aplikasi Streamlit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5943600" cy="4069080"/>
          </a:xfrm>
          <a:prstGeom prst="rect">
            <a:avLst/>
          </a:prstGeom>
          <a:solidFill>
            <a:srgbClr val="07142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49808"/>
            <a:ext cx="5943600" cy="38404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Detection AI 🏢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02920" y="1243584"/>
            <a:ext cx="5486400" cy="713232"/>
          </a:xfrm>
          <a:prstGeom prst="rect">
            <a:avLst/>
          </a:prstGeom>
          <a:solidFill>
            <a:srgbClr val="667EEA">
              <a:alpha val="8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298448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Multi-Class Building Detection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164592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· Home · Mosque · Oil Refinery · Solar Panels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2920" y="2029968"/>
            <a:ext cx="5486400" cy="594360"/>
          </a:xfrm>
          <a:prstGeom prst="rect">
            <a:avLst/>
          </a:prstGeom>
          <a:solidFill>
            <a:srgbClr val="0F204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029968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 Drop satellite image here  ·  PNG / JPG / TIF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2743200"/>
            <a:ext cx="1188720" cy="640080"/>
          </a:xfrm>
          <a:prstGeom prst="rect">
            <a:avLst/>
          </a:prstGeom>
          <a:solidFill>
            <a:srgbClr val="1A2F55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779776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67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3090672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874520" y="2743200"/>
            <a:ext cx="1188720" cy="640080"/>
          </a:xfrm>
          <a:prstGeom prst="rect">
            <a:avLst/>
          </a:prstGeom>
          <a:solidFill>
            <a:srgbClr val="1A2F55"/>
          </a:solidFill>
          <a:ln/>
        </p:spPr>
      </p:sp>
      <p:sp>
        <p:nvSpPr>
          <p:cNvPr id="17" name="Text 15"/>
          <p:cNvSpPr/>
          <p:nvPr/>
        </p:nvSpPr>
        <p:spPr>
          <a:xfrm>
            <a:off x="1874520" y="2779776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874520" y="3090672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Ref.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00400" y="2743200"/>
            <a:ext cx="1188720" cy="640080"/>
          </a:xfrm>
          <a:prstGeom prst="rect">
            <a:avLst/>
          </a:prstGeom>
          <a:solidFill>
            <a:srgbClr val="1A2F55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779776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200400" y="3090672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26280" y="2743200"/>
            <a:ext cx="1188720" cy="640080"/>
          </a:xfrm>
          <a:prstGeom prst="rect">
            <a:avLst/>
          </a:prstGeom>
          <a:solidFill>
            <a:srgbClr val="1A2F55"/>
          </a:solidFill>
          <a:ln/>
        </p:spPr>
      </p:sp>
      <p:sp>
        <p:nvSpPr>
          <p:cNvPr id="23" name="Text 21"/>
          <p:cNvSpPr/>
          <p:nvPr/>
        </p:nvSpPr>
        <p:spPr>
          <a:xfrm>
            <a:off x="4526280" y="2779776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764B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26280" y="3090672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Mosque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48640" y="349300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Confidence: 0.25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794760"/>
            <a:ext cx="5394960" cy="594360"/>
          </a:xfrm>
          <a:prstGeom prst="rect">
            <a:avLst/>
          </a:prstGeom>
          <a:solidFill>
            <a:srgbClr val="0F2040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3794760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Detected: 88 objects | Home:45  Oil:12  Solar:23  Mosque:8 ]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92240" y="804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Pakai Aplikasi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92240" y="1298448"/>
            <a:ext cx="2468880" cy="566928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37960" y="1389888"/>
            <a:ext cx="365760" cy="36576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138988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967728" y="136245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citra satelit dari device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492240" y="1956816"/>
            <a:ext cx="2468880" cy="566928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537960" y="2048256"/>
            <a:ext cx="365760" cy="36576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35" name="Text 33"/>
          <p:cNvSpPr/>
          <p:nvPr/>
        </p:nvSpPr>
        <p:spPr>
          <a:xfrm>
            <a:off x="6537960" y="20482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967728" y="202082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Atur confidence threshold via slider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492240" y="2615184"/>
            <a:ext cx="2468880" cy="566928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537960" y="2706624"/>
            <a:ext cx="365760" cy="36576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39" name="Text 37"/>
          <p:cNvSpPr/>
          <p:nvPr/>
        </p:nvSpPr>
        <p:spPr>
          <a:xfrm>
            <a:off x="6537960" y="270662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967728" y="267919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Lihat hasil bounding box per kelas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492240" y="3273552"/>
            <a:ext cx="2468880" cy="566928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537960" y="3364992"/>
            <a:ext cx="365760" cy="36576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43" name="Text 41"/>
          <p:cNvSpPr/>
          <p:nvPr/>
        </p:nvSpPr>
        <p:spPr>
          <a:xfrm>
            <a:off x="6537960" y="33649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967728" y="333756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 count per kelas di metric cards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492240" y="3931920"/>
            <a:ext cx="2468880" cy="566928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537960" y="4023360"/>
            <a:ext cx="365760" cy="36576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47" name="Text 45"/>
          <p:cNvSpPr/>
          <p:nvPr/>
        </p:nvSpPr>
        <p:spPr>
          <a:xfrm>
            <a:off x="6537960" y="4023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967728" y="399592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gambar hasil deteksi</a:t>
            </a:r>
            <a:endParaRPr lang="en-US" sz="950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08F23377-4E0F-4F07-A07A-05FB3E78F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735374"/>
            <a:ext cx="5961888" cy="365374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Kelebihan Sistem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8595360" cy="566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54864" cy="56692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" y="886968"/>
            <a:ext cx="347472" cy="34747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8869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868680"/>
            <a:ext cx="7818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Dapat mendeteksi 4 kelas objek berbeda dalam satu kali inference.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463040"/>
            <a:ext cx="85953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274320" y="1463040"/>
            <a:ext cx="54864" cy="56692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Shape 10"/>
          <p:cNvSpPr/>
          <p:nvPr/>
        </p:nvSpPr>
        <p:spPr>
          <a:xfrm>
            <a:off x="438912" y="1572768"/>
            <a:ext cx="347472" cy="34747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38912" y="15727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✔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1554480"/>
            <a:ext cx="7818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Menghasilkan bounding box dan jumlah objek per kelas secara otomatis.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148840"/>
            <a:ext cx="85953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274320" y="2148840"/>
            <a:ext cx="54864" cy="56692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912" y="2258568"/>
            <a:ext cx="347472" cy="34747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" y="22585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✔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2240280"/>
            <a:ext cx="7818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Menggunakan YOLOv8n yang ringan dan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cepat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cocok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kompatibel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untuk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GPU laptop.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2834640"/>
            <a:ext cx="85953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2834640"/>
            <a:ext cx="54864" cy="56692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Shape 20"/>
          <p:cNvSpPr/>
          <p:nvPr/>
        </p:nvSpPr>
        <p:spPr>
          <a:xfrm>
            <a:off x="438912" y="2944368"/>
            <a:ext cx="347472" cy="34747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/>
          <p:nvPr/>
        </p:nvSpPr>
        <p:spPr>
          <a:xfrm>
            <a:off x="438912" y="29443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✔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2926080"/>
            <a:ext cx="7818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Dapat berjalan dengan GPU GTX 1650 4GB tanpa error memori.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3520440"/>
            <a:ext cx="85953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274320" y="3520440"/>
            <a:ext cx="54864" cy="56692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7" name="Shape 25"/>
          <p:cNvSpPr/>
          <p:nvPr/>
        </p:nvSpPr>
        <p:spPr>
          <a:xfrm>
            <a:off x="438912" y="3630168"/>
            <a:ext cx="347472" cy="34747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438912" y="36301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✔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14400" y="3611880"/>
            <a:ext cx="7818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interface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sederhana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4206240"/>
            <a:ext cx="85953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274320" y="4206240"/>
            <a:ext cx="54864" cy="56692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2" name="Shape 30"/>
          <p:cNvSpPr/>
          <p:nvPr/>
        </p:nvSpPr>
        <p:spPr>
          <a:xfrm>
            <a:off x="438912" y="4315968"/>
            <a:ext cx="347472" cy="34747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3" name="Text 31"/>
          <p:cNvSpPr/>
          <p:nvPr/>
        </p:nvSpPr>
        <p:spPr>
          <a:xfrm>
            <a:off x="438912" y="43159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✔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14400" y="4297680"/>
            <a:ext cx="7818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threshold dapat disesuaikan untuk berbagai kebutuhan deteksi.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Keterbatasan Sistem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8595360" cy="73152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54864" cy="7315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" y="941832"/>
            <a:ext cx="402336" cy="40233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9418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87552" y="88696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masih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relatif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terbatas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Idealnya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 deep learning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butuh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ribuan gambar per kelas.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645920"/>
            <a:ext cx="8595360" cy="73152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1645920"/>
            <a:ext cx="54864" cy="7315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2" name="Shape 10"/>
          <p:cNvSpPr/>
          <p:nvPr/>
        </p:nvSpPr>
        <p:spPr>
          <a:xfrm>
            <a:off x="438912" y="1810512"/>
            <a:ext cx="402336" cy="40233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438912" y="18105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✖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87552" y="175564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sangat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bergantung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pada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kualitas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resolusi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citra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satelit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input.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514600"/>
            <a:ext cx="8595360" cy="73152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514600"/>
            <a:ext cx="54864" cy="7315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912" y="2679192"/>
            <a:ext cx="402336" cy="40233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" y="2679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✖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87552" y="26243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terlalu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kecil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blur,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atau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tertutup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pohon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dapat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terdeteksi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383280"/>
            <a:ext cx="8595360" cy="73152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3383280"/>
            <a:ext cx="54864" cy="7315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8912" y="3547872"/>
            <a:ext cx="402336" cy="40233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3" name="Text 21"/>
          <p:cNvSpPr/>
          <p:nvPr/>
        </p:nvSpPr>
        <p:spPr>
          <a:xfrm>
            <a:off x="438912" y="35478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✖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87552" y="349300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diuji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pada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berbagai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lokasi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geografis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yang </a:t>
            </a:r>
            <a:r>
              <a:rPr lang="en-US" sz="1100" dirty="0" err="1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berbeda</a:t>
            </a: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38912" y="441655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87552" y="436168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Pengembangan Selanjutnya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49808"/>
            <a:ext cx="2651760" cy="64008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68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📸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88696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Tambah Variasi Data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499616"/>
            <a:ext cx="2468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Perbanyak data Home dan Mosque dari lokasi berbeda untuk meningkatkan recall.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749808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749808"/>
            <a:ext cx="2651760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3246120" y="868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886200" y="88696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Variasi Geografis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46120" y="1499616"/>
            <a:ext cx="2468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Tambah data dari berbagai negara agar model tidak bias ke satu kawasan.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749808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749808"/>
            <a:ext cx="2651760" cy="64008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868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766560" y="88696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YOLOv8s / YOLOv11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0" y="1499616"/>
            <a:ext cx="2468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model jika hardware mendukung untuk akurasi lebih tinggi.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65760" y="28803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65760" y="3511296"/>
            <a:ext cx="2468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246120" y="28803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3246120" y="3511296"/>
            <a:ext cx="2468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155356" y="2761488"/>
            <a:ext cx="2651760" cy="1783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155356" y="2761488"/>
            <a:ext cx="2651760" cy="64008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2" name="Text 30"/>
          <p:cNvSpPr/>
          <p:nvPr/>
        </p:nvSpPr>
        <p:spPr>
          <a:xfrm>
            <a:off x="3246796" y="28803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886876" y="289864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Online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46796" y="3511296"/>
            <a:ext cx="2468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ke Streamlit Cloud atau Hugging Face Spaces untuk akses publik.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8595360" cy="8229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914400"/>
            <a:ext cx="54864" cy="82296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" y="1078992"/>
            <a:ext cx="457200" cy="4572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0789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51560" y="10058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Berhasil Dibuat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gambar · 1,284 anotasi · 4 kelas via Roboflow dengan konsistensi label terjaga.</a:t>
            </a:r>
            <a:endParaRPr lang="en-US" sz="1100" b="1" dirty="0"/>
          </a:p>
        </p:txBody>
      </p:sp>
      <p:sp>
        <p:nvSpPr>
          <p:cNvPr id="11" name="Shape 9"/>
          <p:cNvSpPr/>
          <p:nvPr/>
        </p:nvSpPr>
        <p:spPr>
          <a:xfrm>
            <a:off x="274320" y="1874520"/>
            <a:ext cx="8595360" cy="8229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874520"/>
            <a:ext cx="54864" cy="8229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Shape 11"/>
          <p:cNvSpPr/>
          <p:nvPr/>
        </p:nvSpPr>
        <p:spPr>
          <a:xfrm>
            <a:off x="438912" y="2039112"/>
            <a:ext cx="457200" cy="4572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38912" y="2039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19659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YOLOv8n Terlatih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51560" y="233172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0.911 · Recall 0.772 · mAP50 0.848 · mAP50-95 0.739 pada dataset validasi.</a:t>
            </a:r>
            <a:endParaRPr lang="en-US" sz="1100" b="1" dirty="0"/>
          </a:p>
        </p:txBody>
      </p:sp>
      <p:sp>
        <p:nvSpPr>
          <p:cNvPr id="17" name="Shape 15"/>
          <p:cNvSpPr/>
          <p:nvPr/>
        </p:nvSpPr>
        <p:spPr>
          <a:xfrm>
            <a:off x="274320" y="2834640"/>
            <a:ext cx="8595360" cy="8229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2834640"/>
            <a:ext cx="54864" cy="8229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9" name="Shape 17"/>
          <p:cNvSpPr/>
          <p:nvPr/>
        </p:nvSpPr>
        <p:spPr>
          <a:xfrm>
            <a:off x="438912" y="2999232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438912" y="29992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✓!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51560" y="29260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&amp; Counting OK </a:t>
            </a: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dengan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Pengecualian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51560" y="329184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berhasil mendeteksi dan menghitung objek per kelas pada </a:t>
            </a:r>
            <a:r>
              <a:rPr lang="en-US" sz="1100" b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citra</a:t>
            </a: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satelit</a:t>
            </a: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b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kecuali</a:t>
            </a: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rumah</a:t>
            </a: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 masjid yang </a:t>
            </a:r>
            <a:r>
              <a:rPr lang="en-US" sz="1100" b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masih</a:t>
            </a: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sering</a:t>
            </a: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miss.</a:t>
            </a:r>
            <a:endParaRPr lang="en-US" sz="1100" b="1" dirty="0"/>
          </a:p>
        </p:txBody>
      </p:sp>
      <p:sp>
        <p:nvSpPr>
          <p:cNvPr id="23" name="Shape 21"/>
          <p:cNvSpPr/>
          <p:nvPr/>
        </p:nvSpPr>
        <p:spPr>
          <a:xfrm>
            <a:off x="274320" y="3794760"/>
            <a:ext cx="8595360" cy="822960"/>
          </a:xfrm>
          <a:prstGeom prst="rect">
            <a:avLst/>
          </a:prstGeom>
          <a:solidFill>
            <a:srgbClr val="0F204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3794760"/>
            <a:ext cx="54864" cy="822960"/>
          </a:xfrm>
          <a:prstGeom prst="rect">
            <a:avLst/>
          </a:prstGeom>
          <a:solidFill>
            <a:srgbClr val="764BA2"/>
          </a:solidFill>
          <a:ln/>
        </p:spPr>
      </p:sp>
      <p:sp>
        <p:nvSpPr>
          <p:cNvPr id="25" name="Shape 23"/>
          <p:cNvSpPr/>
          <p:nvPr/>
        </p:nvSpPr>
        <p:spPr>
          <a:xfrm>
            <a:off x="438912" y="3959352"/>
            <a:ext cx="457200" cy="457200"/>
          </a:xfrm>
          <a:prstGeom prst="ellipse">
            <a:avLst/>
          </a:prstGeom>
          <a:solidFill>
            <a:srgbClr val="764BA2"/>
          </a:solidFill>
          <a:ln/>
        </p:spPr>
      </p:sp>
      <p:sp>
        <p:nvSpPr>
          <p:cNvPr id="26" name="Text 24"/>
          <p:cNvSpPr/>
          <p:nvPr/>
        </p:nvSpPr>
        <p:spPr>
          <a:xfrm>
            <a:off x="438912" y="3959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51560" y="38862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 Berjalan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51560" y="425196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 </a:t>
            </a:r>
            <a:r>
              <a:rPr lang="en-US" sz="1100" b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untuk</a:t>
            </a: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demo; upload, deteksi, visualisasi, download dalam satu halaman.</a:t>
            </a:r>
            <a:endParaRPr lang="en-US" sz="1100" b="1" dirty="0"/>
          </a:p>
        </p:txBody>
      </p:sp>
      <p:sp>
        <p:nvSpPr>
          <p:cNvPr id="29" name="Shape 27"/>
          <p:cNvSpPr/>
          <p:nvPr/>
        </p:nvSpPr>
        <p:spPr>
          <a:xfrm>
            <a:off x="1371600" y="4754880"/>
            <a:ext cx="6400800" cy="292608"/>
          </a:xfrm>
          <a:prstGeom prst="rect">
            <a:avLst/>
          </a:prstGeom>
          <a:solidFill>
            <a:srgbClr val="667EEA">
              <a:alpha val="2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1371600" y="4754880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Multi-Class Building Detection · YOLOv8 · Radithya Wildan Pratama · 2026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667EEA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2743200"/>
            <a:ext cx="3657600" cy="3657600"/>
          </a:xfrm>
          <a:prstGeom prst="ellipse">
            <a:avLst/>
          </a:prstGeom>
          <a:solidFill>
            <a:srgbClr val="764BA2">
              <a:alpha val="1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85669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2743200" y="2665829"/>
            <a:ext cx="3657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12848"/>
            <a:ext cx="8229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315468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806506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Multi-Class Building Detection pada Citra Satelit</a:t>
            </a:r>
            <a:endParaRPr lang="en-US" sz="1200" b="1" dirty="0"/>
          </a:p>
        </p:txBody>
      </p:sp>
      <p:sp>
        <p:nvSpPr>
          <p:cNvPr id="11" name="Shape 9"/>
          <p:cNvSpPr/>
          <p:nvPr/>
        </p:nvSpPr>
        <p:spPr>
          <a:xfrm>
            <a:off x="548640" y="4069080"/>
            <a:ext cx="1463040" cy="320040"/>
          </a:xfrm>
          <a:prstGeom prst="roundRect">
            <a:avLst>
              <a:gd name="adj" fmla="val 25714"/>
            </a:avLst>
          </a:prstGeom>
          <a:solidFill>
            <a:srgbClr val="0F204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069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176272" y="4069080"/>
            <a:ext cx="1463040" cy="320040"/>
          </a:xfrm>
          <a:prstGeom prst="roundRect">
            <a:avLst>
              <a:gd name="adj" fmla="val 25714"/>
            </a:avLst>
          </a:prstGeom>
          <a:solidFill>
            <a:srgbClr val="0F2040"/>
          </a:solidFill>
          <a:ln/>
        </p:spPr>
      </p:sp>
      <p:sp>
        <p:nvSpPr>
          <p:cNvPr id="14" name="Text 12"/>
          <p:cNvSpPr/>
          <p:nvPr/>
        </p:nvSpPr>
        <p:spPr>
          <a:xfrm>
            <a:off x="2176272" y="4069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Roboflow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03904" y="4069080"/>
            <a:ext cx="1463040" cy="320040"/>
          </a:xfrm>
          <a:prstGeom prst="roundRect">
            <a:avLst>
              <a:gd name="adj" fmla="val 25714"/>
            </a:avLst>
          </a:prstGeom>
          <a:solidFill>
            <a:srgbClr val="0F2040"/>
          </a:solidFill>
          <a:ln/>
        </p:spPr>
      </p:sp>
      <p:sp>
        <p:nvSpPr>
          <p:cNvPr id="16" name="Text 14"/>
          <p:cNvSpPr/>
          <p:nvPr/>
        </p:nvSpPr>
        <p:spPr>
          <a:xfrm>
            <a:off x="3803904" y="4069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31536" y="4069080"/>
            <a:ext cx="1463040" cy="320040"/>
          </a:xfrm>
          <a:prstGeom prst="roundRect">
            <a:avLst>
              <a:gd name="adj" fmla="val 25714"/>
            </a:avLst>
          </a:prstGeom>
          <a:solidFill>
            <a:srgbClr val="0F2040"/>
          </a:solidFill>
          <a:ln/>
        </p:spPr>
      </p:sp>
      <p:sp>
        <p:nvSpPr>
          <p:cNvPr id="18" name="Text 16"/>
          <p:cNvSpPr/>
          <p:nvPr/>
        </p:nvSpPr>
        <p:spPr>
          <a:xfrm>
            <a:off x="5431536" y="4069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059168" y="4069080"/>
            <a:ext cx="1463040" cy="320040"/>
          </a:xfrm>
          <a:prstGeom prst="roundRect">
            <a:avLst>
              <a:gd name="adj" fmla="val 25714"/>
            </a:avLst>
          </a:prstGeom>
          <a:solidFill>
            <a:srgbClr val="0F2040"/>
          </a:solidFill>
          <a:ln/>
        </p:spPr>
      </p:sp>
      <p:sp>
        <p:nvSpPr>
          <p:cNvPr id="20" name="Text 18"/>
          <p:cNvSpPr/>
          <p:nvPr/>
        </p:nvSpPr>
        <p:spPr>
          <a:xfrm>
            <a:off x="7059168" y="4069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667EE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360</TotalTime>
  <Words>2290</Words>
  <Application>Microsoft Office PowerPoint</Application>
  <PresentationFormat>On-screen Show (16:9)</PresentationFormat>
  <Paragraphs>565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radithyarwp123@gmail.com</cp:lastModifiedBy>
  <cp:revision>27</cp:revision>
  <dcterms:created xsi:type="dcterms:W3CDTF">2026-06-02T12:58:29Z</dcterms:created>
  <dcterms:modified xsi:type="dcterms:W3CDTF">2026-06-02T18:58:50Z</dcterms:modified>
</cp:coreProperties>
</file>