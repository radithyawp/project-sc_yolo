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5B4FC"/>
                </a:solidFill>
                <a:latin typeface="Arial"/>
              </a:defRPr>
            </a:pPr>
            <a:r>
              <a:rPr lang="en-ID" sz="1100" b="0" i="0" u="none" strike="noStrike">
                <a:solidFill>
                  <a:srgbClr val="A5B4FC"/>
                </a:solidFill>
                <a:latin typeface="Arial"/>
              </a:rPr>
              <a:t>Training &amp; Validation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5B4FC"/>
                </a:solidFill>
                <a:latin typeface="Arial"/>
              </a:defRPr>
            </a:pPr>
            <a:r>
              <a:rPr lang="en-ID" sz="1100" b="0" i="0" u="none" strike="noStrike">
                <a:solidFill>
                  <a:srgbClr val="A5B4FC"/>
                </a:solidFill>
                <a:latin typeface="Arial"/>
              </a:rPr>
              <a:t>mAP50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Ep1</c:v>
                </c:pt>
                <c:pt idx="1">
                  <c:v>Ep20</c:v>
                </c:pt>
                <c:pt idx="2">
                  <c:v>Ep40</c:v>
                </c:pt>
                <c:pt idx="3">
                  <c:v>Ep60</c:v>
                </c:pt>
                <c:pt idx="4">
                  <c:v>Ep80</c:v>
                </c:pt>
                <c:pt idx="5">
                  <c:v>Ep100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0.55000000000000004</c:v>
                </c:pt>
                <c:pt idx="2">
                  <c:v>0.72</c:v>
                </c:pt>
                <c:pt idx="3">
                  <c:v>0.81</c:v>
                </c:pt>
                <c:pt idx="4">
                  <c:v>0.84499999999999997</c:v>
                </c:pt>
                <c:pt idx="5">
                  <c:v>0.84799999999999998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D0D-4605-9E8D-6C65FAA55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07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1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07367"/>
            <a:ext cx="3657600" cy="3657600"/>
          </a:xfrm>
          <a:prstGeom prst="ellipse">
            <a:avLst/>
          </a:prstGeom>
          <a:solidFill>
            <a:srgbClr val="667EE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144128"/>
            <a:ext cx="2743200" cy="2743200"/>
          </a:xfrm>
          <a:prstGeom prst="ellipse">
            <a:avLst/>
          </a:prstGeom>
          <a:solidFill>
            <a:srgbClr val="764BA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9913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Building Detection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50033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Citra Satelit Menggunakan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44393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dan Streamlit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0" y="2494201"/>
            <a:ext cx="3657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40505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Deteksi: Home · Mosque · Oil Refinery · Solar Panels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584448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0F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34281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67128" y="3134281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0F2040"/>
          </a:solidFill>
          <a:ln/>
        </p:spPr>
      </p:sp>
      <p:sp>
        <p:nvSpPr>
          <p:cNvPr id="14" name="Text 12"/>
          <p:cNvSpPr/>
          <p:nvPr/>
        </p:nvSpPr>
        <p:spPr>
          <a:xfrm>
            <a:off x="2167128" y="3134281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31336" y="3134281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0F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3134281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95544" y="3134281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0F2040"/>
          </a:solidFill>
          <a:ln/>
        </p:spPr>
      </p:sp>
      <p:sp>
        <p:nvSpPr>
          <p:cNvPr id="18" name="Text 16"/>
          <p:cNvSpPr/>
          <p:nvPr/>
        </p:nvSpPr>
        <p:spPr>
          <a:xfrm>
            <a:off x="5495544" y="3134281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9752" y="3134281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0F2040"/>
          </a:solidFill>
          <a:ln/>
        </p:spPr>
      </p:sp>
      <p:sp>
        <p:nvSpPr>
          <p:cNvPr id="20" name="Text 18"/>
          <p:cNvSpPr/>
          <p:nvPr/>
        </p:nvSpPr>
        <p:spPr>
          <a:xfrm>
            <a:off x="7159752" y="3134281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4997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Hakim (2410654)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Ikhwan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Rizki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Ramadhan (2403873)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Radithya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Wildan Pratama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74697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  ·  2026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09559FF-D2FA-4734-8880-904E5F3D72C5}"/>
              </a:ext>
            </a:extLst>
          </p:cNvPr>
          <p:cNvSpPr/>
          <p:nvPr/>
        </p:nvSpPr>
        <p:spPr>
          <a:xfrm>
            <a:off x="532226" y="36414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u="sng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endParaRPr lang="en-US" sz="1300" b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4864" cy="8686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4124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83210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Wilayah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5214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satelit digunakan untuk perencanaan kota, smart city, dan pemetaan wilayah secara otomatis.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55648"/>
            <a:ext cx="54864" cy="8686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84708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18379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Manual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1579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bangunan secara manual membutuhkan waktu lama dan rentan kesalahan.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61488"/>
            <a:ext cx="54864" cy="8686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85292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8437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YOLOv8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1638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dapat mendeteksi multi-class objek bangunan dengan bounding box dan jumlah per kelas.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67328"/>
            <a:ext cx="54864" cy="8686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85876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8496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696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dikemas dalam Streamlit agar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 gambar, hasil langsung tampil.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86868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530352" cy="530352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14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886968"/>
            <a:ext cx="7726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membangun model object detection untuk mendeteksi beberapa kelas objek pada citra satelit?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86868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920240"/>
            <a:ext cx="530352" cy="530352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920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7726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proses pembuatan dataset multi-class menggunakan Roboflow?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8595360" cy="86868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926080"/>
            <a:ext cx="530352" cy="530352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2898648"/>
            <a:ext cx="7726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performa YOLOv8 dalam mendeteksi kelas Home, Mosque, Oil Refinery, dan Solar Panels?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8595360" cy="86868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931920"/>
            <a:ext cx="530352" cy="530352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931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3904488"/>
            <a:ext cx="7726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mengimplementasikan model YOLOv8 ke dalam web app berbasis Streamlit?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420624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59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886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dataset citra satelit dengan anotasi bounding box multi-class menggunakan Roboflow.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49808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49808"/>
            <a:ext cx="4206240" cy="64008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59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23560" y="886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356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model YOLOv8n untuk mendeteksi 4 kelas objek: Home, Mosque, Oil Refinery, Solar Panels.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15768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15768"/>
            <a:ext cx="42062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254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performa menggunakan Precision, Recall, mAP50, dan mAP50-95.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715768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15768"/>
            <a:ext cx="4206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254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23560" y="2852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4015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aplikasi Streamlit agar pengguna dapat upload gambar dan melihat hasil deteksi.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Object Detection?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51760" cy="2743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86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memberi label ke seluruh gambar.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menunjukkan lokasi objek.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749808"/>
            <a:ext cx="2651760" cy="2743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49808"/>
            <a:ext cx="26517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886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objek, memberi bounding box, dan menghitung jumlah per kelas.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788920"/>
            <a:ext cx="1828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Pilihan Kami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651760" cy="2743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886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5087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detail dengan polygon, tetapi proses anotasi jauh lebih lama.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307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Object Detection dipilih karena dapat menghasilkan bounding box sekaligus menghitung jumlah objek per </a:t>
            </a:r>
            <a:r>
              <a:rPr lang="en-US" sz="115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sebagaimana</a:t>
            </a: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ini.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Objek yang Dideteksi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420624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49808"/>
            <a:ext cx="914400" cy="1828800"/>
          </a:xfrm>
          <a:prstGeom prst="rect">
            <a:avLst/>
          </a:prstGeom>
          <a:solidFill>
            <a:srgbClr val="667EE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9144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344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6184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Rumah tinggal terlihat dari atas, ditandai dari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atap dan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perumahan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49808"/>
            <a:ext cx="4206240" cy="64008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749808"/>
            <a:ext cx="914400" cy="1828800"/>
          </a:xfrm>
          <a:prstGeom prst="rect">
            <a:avLst/>
          </a:prstGeom>
          <a:solidFill>
            <a:srgbClr val="764BA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7498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15000" y="9144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1344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0" y="16184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Masjid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kubah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atap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tengah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pemukiman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0720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07208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807208"/>
            <a:ext cx="914400" cy="18288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8072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🛢️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29718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Refinery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36758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kilang minyak dengan tangki besar,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80720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807208"/>
            <a:ext cx="4206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2807208"/>
            <a:ext cx="914400" cy="18288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8072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715000" y="29718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0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36758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ladang panel, tampak gelap dan beraturan.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dan Teknologi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595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8778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anotasi, split, preprocessing, dan export dataset YOLOv8.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49808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8595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8778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4356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 utama untuk training dan inference.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8595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8778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4356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dengan akselerasi GPU NVIDIA.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2432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24328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2752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object detection modern, cepat, dan mudah digunakan.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62432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624328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3101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drag &amp; drop untuk demo deteksi.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624328"/>
            <a:ext cx="2651760" cy="16002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624328"/>
            <a:ext cx="26517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2752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NumPy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3101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 gambar dan array untuk preprocessing.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Environment: Miniconda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59536"/>
            <a:ext cx="475488" cy="475488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859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41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environment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841248"/>
            <a:ext cx="534924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84124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buildingdet python=3.10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82496"/>
            <a:ext cx="475488" cy="475488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6824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664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environment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664208"/>
            <a:ext cx="534924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6420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buildingdet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505456"/>
            <a:ext cx="475488" cy="475488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library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487168"/>
            <a:ext cx="534924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48716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 streamlit opencv-python pandas pillow numpy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328416"/>
            <a:ext cx="475488" cy="475488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310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instalasi YOLO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310128"/>
            <a:ext cx="534924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31012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checks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4151376"/>
            <a:ext cx="475488" cy="475488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GPU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4133088"/>
            <a:ext cx="534924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413308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nvidia-smi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GPU NVIDIA GeForce GTX 1650 berhasil terdeteksi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029200" cy="420624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686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building_detection/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655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train/images/ + labels/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0482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valid/images/ + labels/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test/images/  + labels/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data.yaml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YOLO/models/best.pt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runs/detect/train_v3_final/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0142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4B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YOLO/app.py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4074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training.py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868680"/>
            <a:ext cx="3337560" cy="68580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923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dataset/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23560" y="1197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gambar + label dari Roboflow export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1673352"/>
            <a:ext cx="3337560" cy="68580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17282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data.yaml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23560" y="2002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dataset + jumlah kelas + nama kelas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2478024"/>
            <a:ext cx="3337560" cy="68580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2532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models/best.pt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2807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dengan performa terbaik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3282696"/>
            <a:ext cx="3337560" cy="68580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33375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runs/detect/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loss, precision, recall, mAP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4087368"/>
            <a:ext cx="3337560" cy="68580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4142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src/app.py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4416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Streamlit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Cara </a:t>
            </a:r>
            <a:r>
              <a:rPr lang="en-US" sz="26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</a:t>
            </a: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859536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59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8869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Gambar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citra satelit/top-down dari Google Earth per kelas objek.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49808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859536"/>
            <a:ext cx="502920" cy="50292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859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8869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ke Roboflow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gambar ke project Roboflow yang sudah dibuat.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749808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859536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859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8869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Kelas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Definisikan 4 kelas: Home, Mosque, Oil Refinery, Solar Panels.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61488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87121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2898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 BBox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bounding box pada setiap objek di setiap gambar.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761488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6120" y="2871216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0480" y="2898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Version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612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augmentasi, split dataset, generate versi dataset.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761488"/>
            <a:ext cx="265176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2871216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840" y="2898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YOLOv8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dataset dalam format YOLOv8 TXT + data.yaml.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 Dataset di Roboflow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4864" cy="80467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4124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88696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8869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88696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Rumah tinggal saja. Gedung kantor/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ruko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diberi label Home.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09928"/>
            <a:ext cx="8595360" cy="804672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09928"/>
            <a:ext cx="54864" cy="80467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80136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184708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764BA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847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84708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Masjid dengan kubah atau atap khas masjid.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8595360" cy="804672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70048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76148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🛢️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80720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Refinery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kilang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minyak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tangki besar dan pola infrastruktur industri.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30168"/>
            <a:ext cx="8595360" cy="804672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30168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72160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97280" y="376732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7673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376732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surya di atap atau ladang panel; tampak gelap beraturan.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Konsistensi anotasi sangat </a:t>
            </a:r>
            <a:r>
              <a:rPr lang="en-US" sz="105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misalkan</a:t>
            </a: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</a:t>
            </a: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</a:t>
            </a: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salah label, bisa merusak pola belajar model.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Dataset Akhir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691640" cy="12801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749808"/>
            <a:ext cx="1691640" cy="12801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8686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03120" y="15361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Annotations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749808"/>
            <a:ext cx="1691640" cy="12801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8686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931920" y="15361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421" y="22128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Anotasi per Kelas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4924" y="2606040"/>
            <a:ext cx="4928616" cy="34747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6" name="Text 14"/>
          <p:cNvSpPr/>
          <p:nvPr/>
        </p:nvSpPr>
        <p:spPr>
          <a:xfrm>
            <a:off x="-408076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1604" y="2619688"/>
            <a:ext cx="52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4924" y="3136392"/>
            <a:ext cx="274091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-408076" y="31363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Refinery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1558" y="31363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4924" y="3666744"/>
            <a:ext cx="2237994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-408076" y="36667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8638" y="36667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4924" y="4197096"/>
            <a:ext cx="854964" cy="34747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5" name="Text 23"/>
          <p:cNvSpPr/>
          <p:nvPr/>
        </p:nvSpPr>
        <p:spPr>
          <a:xfrm>
            <a:off x="-408076" y="4197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35608" y="41970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749808"/>
            <a:ext cx="3063240" cy="3886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97880" y="8229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Dataset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1325880"/>
            <a:ext cx="2743200" cy="7772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1325880"/>
            <a:ext cx="2743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435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1435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images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1728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2331720"/>
            <a:ext cx="2743200" cy="7772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233172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441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2441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images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27340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3337560"/>
            <a:ext cx="2743200" cy="7772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0" y="33375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447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images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3739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Dataset: Format YOLOv8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39319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Export Roboflow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train/images/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Gambar training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train/labels/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 TXT training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valid/images/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Gambar validasi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valid/labels/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688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 TXT validasi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test/images/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163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Gambar test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test/labels/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36393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 TXT 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data.yaml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4114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Konfigurasi path + kelas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749808"/>
            <a:ext cx="4251960" cy="18288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8229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Label YOLO (.txt)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3444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class_id  x_center  y_center  width  height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18288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Contoh: 0  0.512  0.438  0.245  0.198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697480"/>
            <a:ext cx="4251960" cy="1965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276148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data.yaml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127248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5853AE9-48B4-494D-B0D6-189161F98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56524"/>
            <a:ext cx="3658435" cy="15587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YOLOv8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Nano </a:t>
            </a:r>
            <a:r>
              <a:rPr lang="en-US" sz="2000" b="1" dirty="0" err="1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2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 Detection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100" dirty="0">
                <a:solidFill>
                  <a:schemeClr val="bg1"/>
                </a:solidFill>
              </a:rPr>
              <a:t>Model </a:t>
            </a:r>
            <a:r>
              <a:rPr lang="en-ID" sz="1100" dirty="0" err="1">
                <a:solidFill>
                  <a:schemeClr val="bg1"/>
                </a:solidFill>
              </a:rPr>
              <a:t>pengganti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pendekatan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segmentasi</a:t>
            </a:r>
            <a:r>
              <a:rPr lang="en-ID" sz="1100" dirty="0">
                <a:solidFill>
                  <a:schemeClr val="bg1"/>
                </a:solidFill>
              </a:rPr>
              <a:t> U-Net agar </a:t>
            </a:r>
            <a:r>
              <a:rPr lang="en-ID" sz="1100" dirty="0" err="1">
                <a:solidFill>
                  <a:schemeClr val="bg1"/>
                </a:solidFill>
              </a:rPr>
              <a:t>dapat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mendeteksi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objek</a:t>
            </a:r>
            <a:r>
              <a:rPr lang="en-ID" sz="1100" dirty="0">
                <a:solidFill>
                  <a:schemeClr val="bg1"/>
                </a:solidFill>
              </a:rPr>
              <a:t> per </a:t>
            </a:r>
            <a:r>
              <a:rPr lang="en-ID" sz="1100" dirty="0" err="1">
                <a:solidFill>
                  <a:schemeClr val="bg1"/>
                </a:solidFill>
              </a:rPr>
              <a:t>kelas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420624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214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1396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 &amp; Cepat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GPU GTX 1650 4GB dan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Memory.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0116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11680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1214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21396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Akurat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cukup baik untuk dataset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menuju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66160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758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baris kode untuk training.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56616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6758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yolov8n.pt pretrained COCO,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disebut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 learning.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Training YOLOv8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02920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training.py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Penjelasan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0" y="1188720"/>
            <a:ext cx="3337560" cy="402336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0" name="Text 8"/>
          <p:cNvSpPr/>
          <p:nvPr/>
        </p:nvSpPr>
        <p:spPr>
          <a:xfrm>
            <a:off x="5596128" y="1234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31152" y="1234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konfigurasi dataset YAML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1664208"/>
            <a:ext cx="3337560" cy="402336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3" name="Text 11"/>
          <p:cNvSpPr/>
          <p:nvPr/>
        </p:nvSpPr>
        <p:spPr>
          <a:xfrm>
            <a:off x="5596128" y="1709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31152" y="1709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iterasi training (100)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2139696"/>
            <a:ext cx="3337560" cy="402336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5596128" y="21854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31152" y="2185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input gambar (640×640)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2615184"/>
            <a:ext cx="3337560" cy="402336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2660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31152" y="2660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per batch (4);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3090672"/>
            <a:ext cx="3337560" cy="402336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2" name="Text 20"/>
          <p:cNvSpPr/>
          <p:nvPr/>
        </p:nvSpPr>
        <p:spPr>
          <a:xfrm>
            <a:off x="5596128" y="31363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workers=0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31152" y="3136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 di Windows, hindari error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3566160"/>
            <a:ext cx="3337560" cy="402336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5" name="Text 23"/>
          <p:cNvSpPr/>
          <p:nvPr/>
        </p:nvSpPr>
        <p:spPr>
          <a:xfrm>
            <a:off x="5596128" y="3611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device=0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31152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GPU NVIDIA (cuda:0)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4041648"/>
            <a:ext cx="3337560" cy="402336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8" name="Text 26"/>
          <p:cNvSpPr/>
          <p:nvPr/>
        </p:nvSpPr>
        <p:spPr>
          <a:xfrm>
            <a:off x="5596128" y="4087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patience=20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40873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jika tidak ada progress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E530E9A-FB10-41D6-959A-1541665A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3035143" cy="32227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Teknis saat Training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8412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841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8229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Error di Windows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25272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252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37360" y="12344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script dengan if __name__ == '__main__': agar tidak fork proses secara tidak benar.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75688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216712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167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37360" y="21488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Paging File Windows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25786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7360" y="25603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batch size ke 4 dan gunakan workers=0 untuk mengurangi memori yang diminta.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01568"/>
            <a:ext cx="54864" cy="1188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34930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493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34747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Warning pada GTX 1650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" y="390448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904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38862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otomatis menonaktifkan AMP pada GPU yang tidak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 tetap berjalan normal.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27448"/>
            <a:ext cx="859536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Training berhasil berjalan menggunakan GPU NVIDIA GeForce GTX 1650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Training: Dataset Akhir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241 gambar · 1,284 anotasi · 4 kelas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7373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420624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31720" y="11612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1618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prediksi model benar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06240" cy="17373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24128"/>
            <a:ext cx="42062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66560" y="11612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618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77,2% objek yang ada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4206240" cy="17373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0088"/>
            <a:ext cx="4206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546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2331720" y="3127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31720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deteksi pada IoU ≥ 0.50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90088"/>
            <a:ext cx="4206240" cy="17373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90088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1546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766560" y="3127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ketat pada IoU 0.50–0.95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 per Kelas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3210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749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749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749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749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207008"/>
            <a:ext cx="54864" cy="7132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984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35331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2984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135331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2984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135331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2984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135331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2984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1984248"/>
            <a:ext cx="832104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1984248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075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Oil Refinery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13055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213055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40680" y="213055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03720" y="213055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2761488"/>
            <a:ext cx="83210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2761488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8529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 Panels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14600" y="290779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2852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77640" y="290779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2852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0680" y="290779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2852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03720" y="290779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2852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538728"/>
            <a:ext cx="832104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3538728"/>
            <a:ext cx="54864" cy="71323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6301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Mosque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514600" y="368503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36301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977640" y="368503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0" y="36301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40680" y="368503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303520" y="36301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03720" y="368503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36301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4297680"/>
            <a:ext cx="8321040" cy="62179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11480" y="434340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Oil Refinery dan Solar Panels performa terbaik. Home dan Mosque perlu lebih banyak variasi data.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Confusion Matrix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Oil Refinery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941832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941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Bagus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92354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seluruhnya terdeteksi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performa hampir sempurna.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92224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019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 Panels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1929384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929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Bagus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0" y="19110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deteksinya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tergolong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dikarenakan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pola visual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memudahkan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950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2916936"/>
            <a:ext cx="1188720" cy="274320"/>
          </a:xfrm>
          <a:prstGeom prst="roundRect">
            <a:avLst>
              <a:gd name="adj" fmla="val 23333"/>
            </a:avLst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29169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Perlu Perbaikan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0" y="28986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seringkali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background, variasi bentuk atap tinggi.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67328"/>
            <a:ext cx="54864" cy="82296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770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Mosque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97480" y="3904488"/>
            <a:ext cx="1188720" cy="274320"/>
          </a:xfrm>
          <a:prstGeom prst="roundRect">
            <a:avLst>
              <a:gd name="adj" fmla="val 23333"/>
            </a:avLst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3904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Perlu Perbaikan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0" y="3886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objek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dataset masih terbatas.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utama: bukan salah klasifikasi antar kelas, melainkan objek Home/Mosque tidak terdeteksi (masuk background).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Grafik Training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74320" y="3401568"/>
          <a:ext cx="5029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532120" y="804672"/>
            <a:ext cx="33375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577840" y="8961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126480" y="8961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26480" y="1243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box_loss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cls_loss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dfl_loss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532120" y="1828800"/>
            <a:ext cx="33375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577840" y="19202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12648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fluktuasi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training;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overfitting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32120" y="2852928"/>
            <a:ext cx="33375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12"/>
          <p:cNvSpPr/>
          <p:nvPr/>
        </p:nvSpPr>
        <p:spPr>
          <a:xfrm>
            <a:off x="5577840" y="294436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2648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12648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000" dirty="0"/>
              <a:t>Naik </a:t>
            </a:r>
            <a:r>
              <a:rPr lang="en-ID" sz="1000" dirty="0" err="1"/>
              <a:t>hingga</a:t>
            </a:r>
            <a:r>
              <a:rPr lang="en-ID" sz="1000" dirty="0"/>
              <a:t> </a:t>
            </a:r>
            <a:r>
              <a:rPr lang="en-ID" sz="1000" dirty="0" err="1"/>
              <a:t>performa</a:t>
            </a:r>
            <a:r>
              <a:rPr lang="en-ID" sz="1000" dirty="0"/>
              <a:t> </a:t>
            </a:r>
            <a:r>
              <a:rPr lang="en-ID" sz="1000" dirty="0" err="1"/>
              <a:t>terbaik</a:t>
            </a:r>
            <a:r>
              <a:rPr lang="en-ID" sz="1000" dirty="0"/>
              <a:t> di epoch 69, </a:t>
            </a:r>
            <a:r>
              <a:rPr lang="en-ID" sz="1000" dirty="0" err="1"/>
              <a:t>lalu</a:t>
            </a:r>
            <a:r>
              <a:rPr lang="en-ID" sz="1000" dirty="0"/>
              <a:t> </a:t>
            </a:r>
            <a:r>
              <a:rPr lang="en-ID" sz="1000" dirty="0" err="1"/>
              <a:t>sedikit</a:t>
            </a:r>
            <a:r>
              <a:rPr lang="en-ID" sz="1000" dirty="0"/>
              <a:t> </a:t>
            </a:r>
            <a:r>
              <a:rPr lang="en-ID" sz="1000" dirty="0" err="1"/>
              <a:t>menurun</a:t>
            </a:r>
            <a:r>
              <a:rPr lang="en-ID" sz="1000" dirty="0"/>
              <a:t> pada </a:t>
            </a:r>
            <a:r>
              <a:rPr lang="en-ID" sz="1000" dirty="0" err="1"/>
              <a:t>akhir</a:t>
            </a:r>
            <a:r>
              <a:rPr lang="en-ID" sz="1000" dirty="0"/>
              <a:t> training.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32120" y="3877056"/>
            <a:ext cx="33375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577840" y="396849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🛑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126480" y="39684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2648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epoch 89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 epoch.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diperoleh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epoch 69.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B651DA-B541-4C82-9282-3705F5AB9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835533"/>
            <a:ext cx="4777740" cy="2388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Web App: Streamlit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65176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941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citra satelit format PNG, JPG, atau TIF.</a:t>
            </a:r>
            <a:endParaRPr lang="en-US" sz="950" b="1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2651760" cy="64008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04488" y="941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200" b="1" dirty="0"/>
          </a:p>
        </p:txBody>
      </p:sp>
      <p:sp>
        <p:nvSpPr>
          <p:cNvPr id="14" name="Text 12"/>
          <p:cNvSpPr/>
          <p:nvPr/>
        </p:nvSpPr>
        <p:spPr>
          <a:xfrm>
            <a:off x="3246120" y="1581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YOLOv8 melakukan deteksi multi-class secara real-time.</a:t>
            </a:r>
            <a:endParaRPr lang="en-US" sz="950" b="1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265176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914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84848" y="941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581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objek terdeteksi diberi kotak warna berbeda per kelas.</a:t>
            </a:r>
            <a:endParaRPr lang="en-US" sz="950" b="1" dirty="0"/>
          </a:p>
        </p:txBody>
      </p:sp>
      <p:sp>
        <p:nvSpPr>
          <p:cNvPr id="20" name="Shape 18"/>
          <p:cNvSpPr/>
          <p:nvPr/>
        </p:nvSpPr>
        <p:spPr>
          <a:xfrm>
            <a:off x="274320" y="272491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24912"/>
            <a:ext cx="26517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24128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Kelas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5021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menghitung jumlah tiap kelas secara otomatis.</a:t>
            </a:r>
            <a:endParaRPr lang="en-US" sz="950" b="1" dirty="0"/>
          </a:p>
        </p:txBody>
      </p:sp>
      <p:sp>
        <p:nvSpPr>
          <p:cNvPr id="25" name="Shape 23"/>
          <p:cNvSpPr/>
          <p:nvPr/>
        </p:nvSpPr>
        <p:spPr>
          <a:xfrm>
            <a:off x="3154680" y="272491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724912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04488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Ringkasan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5021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tabel dengan nama kelas, jumlah, dan confidence.</a:t>
            </a:r>
            <a:endParaRPr lang="en-US" sz="950" b="1" dirty="0"/>
          </a:p>
        </p:txBody>
      </p:sp>
      <p:sp>
        <p:nvSpPr>
          <p:cNvPr id="30" name="Shape 28"/>
          <p:cNvSpPr/>
          <p:nvPr/>
        </p:nvSpPr>
        <p:spPr>
          <a:xfrm>
            <a:off x="6035040" y="2724912"/>
            <a:ext cx="2651760" cy="166420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724912"/>
            <a:ext cx="265176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⬇️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784848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Hasil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5021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gambar hasil deteksi bounding box sebagai PNG.</a:t>
            </a:r>
            <a:endParaRPr lang="en-US" sz="95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54864"/>
            <a:ext cx="5532120" cy="503834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</a:t>
            </a: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373" y="48234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YOLO/src/app.py — core logic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Utama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0" y="11704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596128" y="1216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6752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layout, title, icon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32120" y="16276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596128" y="16733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6752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16752" y="1874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YOLO('models/best.pt') + cache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20848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96128" y="2130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gambar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32120" y="25420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596128" y="25877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16752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2788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gambar → numpy array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29992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596128" y="3044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16752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3246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 → results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34564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596128" y="3502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Class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16752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objek per kelas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39136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596128" y="39593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16752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16752" y="4160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results.plot() bounding box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2120" y="43708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596128" y="4416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16752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16752" y="4617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BytesIO → st.download_button</a:t>
            </a:r>
            <a:endParaRPr lang="en-US" sz="8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6A8C26-BBF2-482B-82A2-F7ABB618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5" y="722184"/>
            <a:ext cx="2228439" cy="123456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5B4244A-C0CB-4E25-8E30-054D62BE8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6" y="2082683"/>
            <a:ext cx="2280118" cy="149112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7C7E723-C013-4905-9A89-54355993B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6061" y="742127"/>
            <a:ext cx="2508192" cy="87803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AA38151-FC25-4859-A3F2-4BF667DD2E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811" r="42083"/>
          <a:stretch/>
        </p:blipFill>
        <p:spPr>
          <a:xfrm>
            <a:off x="2876181" y="1732310"/>
            <a:ext cx="2494232" cy="24241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54864"/>
            <a:ext cx="5532120" cy="503834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</a:t>
            </a: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373" y="48234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YOLO/src/app.py — core logic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Utama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0" y="11704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596128" y="1216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6752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layout, title, icon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32120" y="16276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596128" y="16733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6752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16752" y="1874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YOLO('models/best.pt') + cache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20848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96128" y="2130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gambar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32120" y="25420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596128" y="25877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16752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2788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gambar → numpy array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29992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596128" y="3044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16752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3246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 → results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34564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596128" y="3502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Class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16752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objek per kelas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3913632"/>
            <a:ext cx="3337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596128" y="39593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16752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16752" y="4160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results.plot() bounding box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2120" y="4370832"/>
            <a:ext cx="3337560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596128" y="4416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16752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16752" y="4617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BytesIO → st.download_button</a:t>
            </a:r>
            <a:endParaRPr lang="en-US" sz="85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FFFBDB9-F429-4403-8F24-873FACE9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55523"/>
            <a:ext cx="2769829" cy="23842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8CCF2B3-AA3D-4196-8774-348EC4E22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222" y="758935"/>
            <a:ext cx="2520738" cy="23842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0A1DE7F-33D1-4DE1-ADD7-15B02B6D2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277342"/>
            <a:ext cx="2326965" cy="14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43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menentukan batas minimum keyakinan model untuk menampilkan hasil deteksi.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2004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banyak objek terdeteksi.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meningkat.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eksplorasi.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Terlalu sensitif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651760" cy="32004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6517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2618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154680" y="2212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2697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Keseimbangan antara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 dan sensitivitas.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rekomendasi.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3913632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Direkomendasikan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51760" cy="320040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097280"/>
            <a:ext cx="265176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2618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035040" y="2212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697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lebih bersih.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kecil bisa terlewat.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demo resmi.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913632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667EEA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Untuk demo bersih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859536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3708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Slider confidence threshold dapat ditambahkan di Streamlit agar pengguna bisa menyesuaikan sensitivitas secara interaktif.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Sistem End-to-End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3258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 citra satelit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7EE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005840"/>
            <a:ext cx="13258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→ numpy array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21488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7EE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05840"/>
            <a:ext cx="13258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15468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deteksi objek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21488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7EEA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005840"/>
            <a:ext cx="1325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🔲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1772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kotak per objek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21488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7EE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05840"/>
            <a:ext cx="1325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08076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per kelas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06640" y="21488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7EEA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43800" y="1005840"/>
            <a:ext cx="1325880" cy="3200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005840"/>
            <a:ext cx="13258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117043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⬇️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543800" y="19202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242316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hasil PNG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444398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 →  Preprocessing  →  YOLOv8 Detection  →  Bounding Box  →  Count per Class  →  Download Result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Aplikasi Streamlit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943600" cy="4069080"/>
          </a:xfrm>
          <a:prstGeom prst="rect">
            <a:avLst/>
          </a:prstGeom>
          <a:solidFill>
            <a:srgbClr val="0714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9436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Detection AI 🏢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243584"/>
            <a:ext cx="5486400" cy="713232"/>
          </a:xfrm>
          <a:prstGeom prst="rect">
            <a:avLst/>
          </a:prstGeom>
          <a:solidFill>
            <a:srgbClr val="667EE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Building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Home · Mosque · Oil Refinery · Solar Panels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029968"/>
            <a:ext cx="5486400" cy="59436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299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Drop satellite image here  ·  PNG / JPG / TIF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88720" cy="64008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97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74520" y="2743200"/>
            <a:ext cx="1188720" cy="64008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27797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30906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Ref.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2743200"/>
            <a:ext cx="1188720" cy="64008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7797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0906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1188720" cy="64008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7797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30906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5394960" cy="59436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94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Detected: 88 objects | Home:45  Oil:12  Solar:23  Mosque:8 ]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Pakai Aplikasi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1298448"/>
            <a:ext cx="2468880" cy="56692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1389888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67728" y="13624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citra satelit dari device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1956816"/>
            <a:ext cx="2468880" cy="56692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2048256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048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67728" y="20208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confidence threshold via slider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2615184"/>
            <a:ext cx="2468880" cy="56692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37960" y="2706624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67728" y="2679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hasil bounding box per kelas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3273552"/>
            <a:ext cx="2468880" cy="56692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37960" y="3364992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67728" y="33375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count per kelas di metric cards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92240" y="3931920"/>
            <a:ext cx="2468880" cy="566928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37960" y="4023360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67728" y="39959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gambar hasil deteksi</a:t>
            </a:r>
            <a:endParaRPr lang="en-US" sz="9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8F23377-4E0F-4F07-A07A-05FB3E78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735374"/>
            <a:ext cx="5961888" cy="36537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 Sistem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8869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886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868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mendeteksi 4 kelas objek berbeda dalam satu kali inference.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5727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5544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bounding box dan jumlah objek per kelas secara otomatis.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1488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" y="22585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2402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YOLOv8n yang ringan dan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kompatibel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 laptop.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8346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29443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9260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berjalan dengan GPU GTX 1650 4GB tanpa error memori.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5204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36301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630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6118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206240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912" y="43159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dapat disesuaikan untuk berbagai kebutuhan deteksi.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Sistem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94183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941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8869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masih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Idealnya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deep learning </a:t>
            </a:r>
            <a:r>
              <a:rPr lang="en-US" sz="11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</a:t>
            </a: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ribuan gambar per kelas.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4592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81051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7556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Home dan Mosque memiliki variasi bentuk tinggi sehingga recall lebih rendah.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8595360" cy="7315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1460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" y="267919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6243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deteksi sangat bergantung pada kualitas dan resolusi citra satelit input.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8328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354787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49300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terlalu kecil, blur, atau tertutup pohon dapat tidak terdeteksi.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5196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441655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3616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belum diuji pada berbagai lokasi geografis yang berbeda (Indonesia, Asia, Eropa).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Selanjutnya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651760" cy="6400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8869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Variasi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Perbanyak data Home dan Mosque dari lokasi berbeda untuk meningkatkan recall.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49808"/>
            <a:ext cx="265176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8869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Geografis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4996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 dari berbagai negara agar model tidak bias ke satu kawasan.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651760" cy="64008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8869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/ YOLOv11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4996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model jika hardware mendukung untuk akurasi lebih tinggi.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61488"/>
            <a:ext cx="26517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28986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ke 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51129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fitur download hasil deteksi dalam format spreadsheet CSV.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761488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28986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per Obj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51129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nilai confidence score di atas tiap bounding box.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761488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761488"/>
            <a:ext cx="265176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28986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51129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 Streamlit Cloud atau Hugging Face Spaces untuk akses publik.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078992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Berhasil Dibuat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gambar · 1,284 anotasi · 4 kelas via Roboflow dengan konsistensi label terjaga.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7452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203911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YOLOv8n Terlatih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331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0.911 · Recall 0.772 · mAP50 0.848 · mAP50-95 0.739 pada dataset validasi.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299923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Counting OK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291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berhasil mendeteksi dan menghitung objek per kelas pada citra satelit.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8595360" cy="8229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94760"/>
            <a:ext cx="54864" cy="82296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" y="3959352"/>
            <a:ext cx="457200" cy="45720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886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Berjalan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2519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</a:t>
            </a:r>
            <a:r>
              <a:rPr lang="en-US" sz="1100" b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demo; upload, deteksi, visualisasi, download dalam satu halaman.</a:t>
            </a:r>
            <a:endParaRPr lang="en-US" sz="1100" b="1" dirty="0"/>
          </a:p>
        </p:txBody>
      </p:sp>
      <p:sp>
        <p:nvSpPr>
          <p:cNvPr id="29" name="Shape 27"/>
          <p:cNvSpPr/>
          <p:nvPr/>
        </p:nvSpPr>
        <p:spPr>
          <a:xfrm>
            <a:off x="1371600" y="4754880"/>
            <a:ext cx="6400800" cy="292608"/>
          </a:xfrm>
          <a:prstGeom prst="rect">
            <a:avLst/>
          </a:prstGeom>
          <a:solidFill>
            <a:srgbClr val="667EEA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4754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Building Detection · YOLOv8 · Radithya Wildan Pratama · 2026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67EE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64BA2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5669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0" y="2665829"/>
            <a:ext cx="3657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128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0650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Building Detection pada Citra Satelit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463040" cy="320040"/>
          </a:xfrm>
          <a:prstGeom prst="roundRect">
            <a:avLst>
              <a:gd name="adj" fmla="val 25714"/>
            </a:avLst>
          </a:prstGeom>
          <a:solidFill>
            <a:srgbClr val="0F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76272" y="4069080"/>
            <a:ext cx="1463040" cy="320040"/>
          </a:xfrm>
          <a:prstGeom prst="roundRect">
            <a:avLst>
              <a:gd name="adj" fmla="val 25714"/>
            </a:avLst>
          </a:prstGeom>
          <a:solidFill>
            <a:srgbClr val="0F2040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4069080"/>
            <a:ext cx="1463040" cy="320040"/>
          </a:xfrm>
          <a:prstGeom prst="roundRect">
            <a:avLst>
              <a:gd name="adj" fmla="val 25714"/>
            </a:avLst>
          </a:prstGeom>
          <a:solidFill>
            <a:srgbClr val="0F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31536" y="4069080"/>
            <a:ext cx="1463040" cy="320040"/>
          </a:xfrm>
          <a:prstGeom prst="roundRect">
            <a:avLst>
              <a:gd name="adj" fmla="val 25714"/>
            </a:avLst>
          </a:prstGeom>
          <a:solidFill>
            <a:srgbClr val="0F2040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59168" y="4069080"/>
            <a:ext cx="1463040" cy="320040"/>
          </a:xfrm>
          <a:prstGeom prst="roundRect">
            <a:avLst>
              <a:gd name="adj" fmla="val 25714"/>
            </a:avLst>
          </a:prstGeom>
          <a:solidFill>
            <a:srgbClr val="0F2040"/>
          </a:solidFill>
          <a:ln/>
        </p:spPr>
      </p:sp>
      <p:sp>
        <p:nvSpPr>
          <p:cNvPr id="20" name="Text 18"/>
          <p:cNvSpPr/>
          <p:nvPr/>
        </p:nvSpPr>
        <p:spPr>
          <a:xfrm>
            <a:off x="7059168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67EE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2311</Words>
  <Application>Microsoft Office PowerPoint</Application>
  <PresentationFormat>On-screen Show (16:9)</PresentationFormat>
  <Paragraphs>573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radithyarwp123@gmail.com</cp:lastModifiedBy>
  <cp:revision>20</cp:revision>
  <dcterms:created xsi:type="dcterms:W3CDTF">2026-06-02T12:58:29Z</dcterms:created>
  <dcterms:modified xsi:type="dcterms:W3CDTF">2026-06-02T16:39:31Z</dcterms:modified>
</cp:coreProperties>
</file>