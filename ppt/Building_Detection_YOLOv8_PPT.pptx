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6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6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A5B4FC"/>
                </a:solidFill>
                <a:latin typeface="Arial"/>
              </a:defRPr>
            </a:pPr>
            <a:r>
              <a:rPr lang="en-ID" sz="1100" b="0" i="0" u="none" strike="noStrike">
                <a:solidFill>
                  <a:srgbClr val="A5B4FC"/>
                </a:solidFill>
                <a:latin typeface="Arial"/>
              </a:rPr>
              <a:t>Training &amp; Validation Loss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1E3A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solidFill>
      <a:srgbClr val="0A162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A5B4FC"/>
                </a:solidFill>
                <a:latin typeface="Arial"/>
              </a:defRPr>
            </a:pPr>
            <a:r>
              <a:rPr lang="en-ID" sz="1100" b="0" i="0" u="none" strike="noStrike">
                <a:solidFill>
                  <a:srgbClr val="A5B4FC"/>
                </a:solidFill>
                <a:latin typeface="Arial"/>
              </a:rPr>
              <a:t>mAP50 per Epoch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</c:v>
                </c:pt>
              </c:strCache>
            </c:strRef>
          </c:tx>
          <c:spPr>
            <a:ln w="31750" cap="flat">
              <a:solidFill>
                <a:srgbClr val="10B98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Ep1</c:v>
                </c:pt>
                <c:pt idx="1">
                  <c:v>Ep20</c:v>
                </c:pt>
                <c:pt idx="2">
                  <c:v>Ep40</c:v>
                </c:pt>
                <c:pt idx="3">
                  <c:v>Ep60</c:v>
                </c:pt>
                <c:pt idx="4">
                  <c:v>Ep80</c:v>
                </c:pt>
                <c:pt idx="5">
                  <c:v>Ep100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0.12</c:v>
                </c:pt>
                <c:pt idx="1">
                  <c:v>0.55000000000000004</c:v>
                </c:pt>
                <c:pt idx="2">
                  <c:v>0.72</c:v>
                </c:pt>
                <c:pt idx="3">
                  <c:v>0.81</c:v>
                </c:pt>
                <c:pt idx="4">
                  <c:v>0.84499999999999997</c:v>
                </c:pt>
                <c:pt idx="5">
                  <c:v>0.84799999999999998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D0D-4605-9E8D-6C65FAA552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A162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5075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12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07367"/>
            <a:ext cx="3657600" cy="3657600"/>
          </a:xfrm>
          <a:prstGeom prst="ellipse">
            <a:avLst/>
          </a:prstGeom>
          <a:solidFill>
            <a:srgbClr val="667EEA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3144128"/>
            <a:ext cx="2743200" cy="2743200"/>
          </a:xfrm>
          <a:prstGeom prst="ellipse">
            <a:avLst/>
          </a:prstGeom>
          <a:solidFill>
            <a:srgbClr val="764BA2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914400" y="2743200"/>
            <a:ext cx="2743200" cy="274320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9913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Building Detection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150033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Citra Satelit Menggunakan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1744393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dan Streamlit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743200" y="2494201"/>
            <a:ext cx="36576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40505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Deteksi: Home · Mosque · Oil Refinery · Solar Panels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584448"/>
            <a:ext cx="1554480" cy="347472"/>
          </a:xfrm>
          <a:prstGeom prst="roundRect">
            <a:avLst>
              <a:gd name="adj" fmla="val 23684"/>
            </a:avLst>
          </a:prstGeom>
          <a:solidFill>
            <a:srgbClr val="0F204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34281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Roboflow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67128" y="3134281"/>
            <a:ext cx="1554480" cy="347472"/>
          </a:xfrm>
          <a:prstGeom prst="roundRect">
            <a:avLst>
              <a:gd name="adj" fmla="val 23684"/>
            </a:avLst>
          </a:prstGeom>
          <a:solidFill>
            <a:srgbClr val="0F2040"/>
          </a:solidFill>
          <a:ln/>
        </p:spPr>
      </p:sp>
      <p:sp>
        <p:nvSpPr>
          <p:cNvPr id="14" name="Text 12"/>
          <p:cNvSpPr/>
          <p:nvPr/>
        </p:nvSpPr>
        <p:spPr>
          <a:xfrm>
            <a:off x="2167128" y="3134281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31336" y="3134281"/>
            <a:ext cx="1554480" cy="347472"/>
          </a:xfrm>
          <a:prstGeom prst="roundRect">
            <a:avLst>
              <a:gd name="adj" fmla="val 23684"/>
            </a:avLst>
          </a:prstGeom>
          <a:solidFill>
            <a:srgbClr val="0F2040"/>
          </a:solidFill>
          <a:ln/>
        </p:spPr>
      </p:sp>
      <p:sp>
        <p:nvSpPr>
          <p:cNvPr id="16" name="Text 14"/>
          <p:cNvSpPr/>
          <p:nvPr/>
        </p:nvSpPr>
        <p:spPr>
          <a:xfrm>
            <a:off x="3831336" y="3134281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95544" y="3134281"/>
            <a:ext cx="1554480" cy="347472"/>
          </a:xfrm>
          <a:prstGeom prst="roundRect">
            <a:avLst>
              <a:gd name="adj" fmla="val 23684"/>
            </a:avLst>
          </a:prstGeom>
          <a:solidFill>
            <a:srgbClr val="0F2040"/>
          </a:solidFill>
          <a:ln/>
        </p:spPr>
      </p:sp>
      <p:sp>
        <p:nvSpPr>
          <p:cNvPr id="18" name="Text 16"/>
          <p:cNvSpPr/>
          <p:nvPr/>
        </p:nvSpPr>
        <p:spPr>
          <a:xfrm>
            <a:off x="5495544" y="3134281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59752" y="3134281"/>
            <a:ext cx="1554480" cy="347472"/>
          </a:xfrm>
          <a:prstGeom prst="roundRect">
            <a:avLst>
              <a:gd name="adj" fmla="val 23684"/>
            </a:avLst>
          </a:prstGeom>
          <a:solidFill>
            <a:srgbClr val="0F2040"/>
          </a:solidFill>
          <a:ln/>
        </p:spPr>
      </p:sp>
      <p:sp>
        <p:nvSpPr>
          <p:cNvPr id="20" name="Text 18"/>
          <p:cNvSpPr/>
          <p:nvPr/>
        </p:nvSpPr>
        <p:spPr>
          <a:xfrm>
            <a:off x="7159752" y="3134281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14997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Annuar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Hakim (2410654)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Ikhwan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Rizki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Ramadhan (2403873)</a:t>
            </a:r>
          </a:p>
          <a:p>
            <a:pPr marL="0" indent="0" algn="ctr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Radithya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Wildan Pratama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674697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Project  ·  2026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009559FF-D2FA-4734-8880-904E5F3D72C5}"/>
              </a:ext>
            </a:extLst>
          </p:cNvPr>
          <p:cNvSpPr/>
          <p:nvPr/>
        </p:nvSpPr>
        <p:spPr>
          <a:xfrm>
            <a:off x="532226" y="364142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u="sng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</a:t>
            </a: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</a:t>
            </a:r>
            <a:endParaRPr lang="en-US" sz="1300" b="1" u="sng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54864" cy="8686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841248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83210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Pemetaan Wilayah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115214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 satelit digunakan untuk perencanaan kota, smart city, dan pemetaan wilayah secara otomatis.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755648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755648"/>
            <a:ext cx="54864" cy="8686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" y="1847088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51560" y="183794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Keterbatasan Manual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51560" y="215798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bangunan secara manual membutuhkan waktu lama dan rentan kesalahan.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761488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61488"/>
            <a:ext cx="54864" cy="8686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" y="2852928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51560" y="284378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Solusi: YOLOv8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31638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dapat mendeteksi multi-class objek bangunan dengan bounding box dan jumlah per kelas.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3767328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767328"/>
            <a:ext cx="54864" cy="8686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" y="3858768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051560" y="384962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416966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dikemas dalam Streamlit agar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mudah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digunakan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upload gambar, hasil langsung tampil.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Rumusan Masalah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86868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914400"/>
            <a:ext cx="530352" cy="530352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9144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886968"/>
            <a:ext cx="7726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membangun model object detection untuk mendeteksi beberapa kelas objek pada citra satelit?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755648"/>
            <a:ext cx="8595360" cy="86868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" y="1920240"/>
            <a:ext cx="530352" cy="530352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" y="192024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1892808"/>
            <a:ext cx="7726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proses pembuatan dataset multi-class menggunakan Roboflow?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761488"/>
            <a:ext cx="8595360" cy="86868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" y="2926080"/>
            <a:ext cx="530352" cy="530352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" y="292608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24128" y="2898648"/>
            <a:ext cx="7726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performa YOLOv8 dalam mendeteksi kelas Home, Mosque, Oil Refinery, dan Solar Panels?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767328"/>
            <a:ext cx="8595360" cy="86868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" y="3931920"/>
            <a:ext cx="530352" cy="530352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" y="393192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24128" y="3904488"/>
            <a:ext cx="7726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mengimplementasikan model YOLOv8 ke dalam web app berbasis Streamlit?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Project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420624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5953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88720" y="88696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Dataset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43560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dataset citra satelit dengan anotasi bounding box multi-class menggunakan Roboflow.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749808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49808"/>
            <a:ext cx="4206240" cy="64008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5953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64B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623560" y="88696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Model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43560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Melatih model YOLOv8n untuk mendeteksi 4 kelas objek: Home, Mosque, Oil Refinery, Solar Panels.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715768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15768"/>
            <a:ext cx="420624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2549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88720" y="28529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Model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34015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Mengevaluasi performa menggunakan Precision, Recall, mAP50, dan mAP50-95.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2715768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15768"/>
            <a:ext cx="420624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2549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623560" y="28529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34015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aplikasi Streamlit agar pengguna dapat upload gambar dan melihat hasil deteksi.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Kenapa Object Detection?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2651760" cy="2743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2651760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8696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087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memberi label ke seluruh gambar.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bisa menunjukkan lokasi objek.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54680" y="749808"/>
            <a:ext cx="2651760" cy="2743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749808"/>
            <a:ext cx="265176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3154680" y="88696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46120" y="15087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Mendeteksi objek, memberi bounding box, dan menghitung jumlah per kelas.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566160" y="2788920"/>
            <a:ext cx="1828800" cy="34747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7889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Pilihan Kami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749808"/>
            <a:ext cx="2651760" cy="2743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749808"/>
            <a:ext cx="265176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0" y="88696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26480" y="15087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detail dengan polygon, tetapi proses anotasi jauh lebih lama.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8595360" cy="109728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" y="3730752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Object Detection dipilih karena dapat menghasilkan bounding box sekaligus menghitung jumlah objek per </a:t>
            </a:r>
            <a:r>
              <a:rPr lang="en-US" sz="115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</a:t>
            </a:r>
            <a:r>
              <a:rPr lang="en-US" sz="11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sebagaimana</a:t>
            </a:r>
            <a:r>
              <a:rPr lang="en-US" sz="11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</a:t>
            </a:r>
            <a:r>
              <a:rPr lang="en-US" sz="11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 ini.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Objek yang Dideteksi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420624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49808"/>
            <a:ext cx="914400" cy="1828800"/>
          </a:xfrm>
          <a:prstGeom prst="rect">
            <a:avLst/>
          </a:prstGeom>
          <a:solidFill>
            <a:srgbClr val="667EE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914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🏠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280160" y="9144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13441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280160" y="16184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Rumah tinggal terlihat dari atas, ditandai dari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bentuk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atap dan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lingkungan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perumahan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749808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49808"/>
            <a:ext cx="4206240" cy="64008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4" name="Shape 12"/>
          <p:cNvSpPr/>
          <p:nvPr/>
        </p:nvSpPr>
        <p:spPr>
          <a:xfrm>
            <a:off x="4709160" y="749808"/>
            <a:ext cx="914400" cy="1828800"/>
          </a:xfrm>
          <a:prstGeom prst="rect">
            <a:avLst/>
          </a:prstGeom>
          <a:solidFill>
            <a:srgbClr val="764BA2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749808"/>
            <a:ext cx="914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🕌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715000" y="9144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Mosque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715000" y="13441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64B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715000" y="16184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Masjid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kubah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atau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atap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beberapa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tengah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pemukiman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807208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807208"/>
            <a:ext cx="420624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2807208"/>
            <a:ext cx="914400" cy="1828800"/>
          </a:xfrm>
          <a:prstGeom prst="rect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2807208"/>
            <a:ext cx="914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🛢️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280160" y="29718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Refinery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kilang minyak dengan tangki besar,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sedang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kecil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beberapa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807208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807208"/>
            <a:ext cx="420624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Shape 26"/>
          <p:cNvSpPr/>
          <p:nvPr/>
        </p:nvSpPr>
        <p:spPr>
          <a:xfrm>
            <a:off x="4709160" y="2807208"/>
            <a:ext cx="914400" cy="1828800"/>
          </a:xfrm>
          <a:prstGeom prst="rect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709160" y="2807208"/>
            <a:ext cx="914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☀️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5715000" y="29718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715000" y="34015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715000" y="36758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ladang panel, tampak gelap dan beraturan.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dan Teknologi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265176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953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🔵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87782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Roboflow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356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Upload, anotasi, split, preprocessing, dan export dataset YOLOv8.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74980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749808"/>
            <a:ext cx="265176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85953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🐍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840480" y="87782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46120" y="14356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Bahasa pemrograman utama untuk training dan inference.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74980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749808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85953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🔥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20840" y="87782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+ CUDA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14356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framework dengan akselerasi GPU NVIDIA.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262432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624328"/>
            <a:ext cx="2651760" cy="54864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73405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60120" y="27523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(Ultralytics)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33101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object detection modern, cepat, dan mudah digunakan.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54680" y="262432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2624328"/>
            <a:ext cx="26517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3246120" y="273405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840480" y="27523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46120" y="33101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drag &amp; drop untuk demo deteksi.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262432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35040" y="2624328"/>
            <a:ext cx="2651760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2" name="Text 30"/>
          <p:cNvSpPr/>
          <p:nvPr/>
        </p:nvSpPr>
        <p:spPr>
          <a:xfrm>
            <a:off x="6126480" y="273405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720840" y="27523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+ NumPy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33101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Pemrosesan gambar dan array untuk preprocessing.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Environment: Miniconda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859536"/>
            <a:ext cx="475488" cy="475488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8595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8412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environment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841248"/>
            <a:ext cx="5349240" cy="51206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84124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create -n buildingdet python=3.10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572768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" y="1682496"/>
            <a:ext cx="475488" cy="475488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" y="168249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16642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Aktifkan environment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9000" y="1664208"/>
            <a:ext cx="5349240" cy="51206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66420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activate buildingdet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2395728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" y="2505456"/>
            <a:ext cx="475488" cy="475488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" y="25054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library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29000" y="2487168"/>
            <a:ext cx="5349240" cy="51206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248716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ultralytics streamlit opencv-python pandas pillow numpy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" y="3218688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47472" y="3328416"/>
            <a:ext cx="475488" cy="475488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" y="332841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33101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instalasi YOLO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29000" y="3310128"/>
            <a:ext cx="5349240" cy="51206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3520440" y="331012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yolo checks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4041648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47472" y="4151376"/>
            <a:ext cx="475488" cy="475488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31" name="Text 29"/>
          <p:cNvSpPr/>
          <p:nvPr/>
        </p:nvSpPr>
        <p:spPr>
          <a:xfrm>
            <a:off x="347472" y="41513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0120" y="41330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GPU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29000" y="4133088"/>
            <a:ext cx="5349240" cy="51206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4" name="Text 32"/>
          <p:cNvSpPr/>
          <p:nvPr/>
        </p:nvSpPr>
        <p:spPr>
          <a:xfrm>
            <a:off x="3520440" y="413308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nvidia-smi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4846320"/>
            <a:ext cx="8595360" cy="182880"/>
          </a:xfrm>
          <a:prstGeom prst="rect">
            <a:avLst/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484632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GPU NVIDIA GeForce GTX 1650 berhasil terdeteksi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Project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5029200" cy="420624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686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building_detection/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26187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dataset/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165506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train/images/ + labels/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204825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valid/images/ + labels/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68680" y="24414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test/images/  + labels/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" y="28346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data.yaml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322783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YOLO/models/best.pt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3621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runs/detect/train_v3_final/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401421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4B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YOLO/app.py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44074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training.py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532120" y="868680"/>
            <a:ext cx="3337560" cy="68580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23560" y="92354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dataset/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23560" y="119786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gambar + label dari Roboflow export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532120" y="1673352"/>
            <a:ext cx="3337560" cy="68580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23560" y="1728216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data.yaml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23560" y="200253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dataset + jumlah kelas + nama kelas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532120" y="2478024"/>
            <a:ext cx="3337560" cy="68580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623560" y="253288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models/best.pt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23560" y="28072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dengan performa terbaik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532120" y="3282696"/>
            <a:ext cx="3337560" cy="68580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23560" y="33375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runs/detect/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 loss, precision, recall, mAP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532120" y="4087368"/>
            <a:ext cx="3337560" cy="68580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623560" y="4142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src/app.py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23560" y="441655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Streamlit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Cara </a:t>
            </a:r>
            <a:r>
              <a:rPr lang="en-US" sz="2600" b="1" dirty="0" err="1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Pengumpulan</a:t>
            </a: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265176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859536"/>
            <a:ext cx="502920" cy="50292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8595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8869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Kumpulkan Gambar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463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citra satelit/top-down dari Google Earth per kelas objek.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5468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749808"/>
            <a:ext cx="2651760" cy="54864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3" name="Shape 11"/>
          <p:cNvSpPr/>
          <p:nvPr/>
        </p:nvSpPr>
        <p:spPr>
          <a:xfrm>
            <a:off x="3246120" y="859536"/>
            <a:ext cx="502920" cy="502920"/>
          </a:xfrm>
          <a:prstGeom prst="ellipse">
            <a:avLst/>
          </a:prstGeom>
          <a:solidFill>
            <a:srgbClr val="764BA2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95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40480" y="8869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ke Roboflow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46120" y="1463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gambar ke project Roboflow yang sudah dibuat.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749808"/>
            <a:ext cx="265176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859536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8595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720840" y="8869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Kelas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26480" y="1463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Definisikan 4 kelas: Home, Mosque, Oil Refinery, Solar Panels.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276148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2761488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Shape 23"/>
          <p:cNvSpPr/>
          <p:nvPr/>
        </p:nvSpPr>
        <p:spPr>
          <a:xfrm>
            <a:off x="365760" y="2871216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0120" y="2898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Anotasi BBox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bounding box pada setiap objek di setiap gambar.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54680" y="276148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154680" y="2761488"/>
            <a:ext cx="26517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Shape 29"/>
          <p:cNvSpPr/>
          <p:nvPr/>
        </p:nvSpPr>
        <p:spPr>
          <a:xfrm>
            <a:off x="3246120" y="2871216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32461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840480" y="2898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Version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46120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Aktifkan augmentasi, split dataset, generate versi dataset.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35040" y="276148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35040" y="2761488"/>
            <a:ext cx="2651760" cy="5486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7" name="Shape 35"/>
          <p:cNvSpPr/>
          <p:nvPr/>
        </p:nvSpPr>
        <p:spPr>
          <a:xfrm>
            <a:off x="6126480" y="2871216"/>
            <a:ext cx="502920" cy="50292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38" name="Text 36"/>
          <p:cNvSpPr/>
          <p:nvPr/>
        </p:nvSpPr>
        <p:spPr>
          <a:xfrm>
            <a:off x="612648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720840" y="2898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YOLOv8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26480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dataset dalam format YOLOv8 TXT + data.yaml.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Anotasi Dataset di Roboflow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54864" cy="80467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841248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🏠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88696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88696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14600" y="886968"/>
            <a:ext cx="6217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Rumah tinggal saja. Gedung kantor/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ruko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diberi label Home.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709928"/>
            <a:ext cx="8595360" cy="804672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709928"/>
            <a:ext cx="54864" cy="804672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3" name="Text 11"/>
          <p:cNvSpPr/>
          <p:nvPr/>
        </p:nvSpPr>
        <p:spPr>
          <a:xfrm>
            <a:off x="384048" y="1801368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🕌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097280" y="18470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764BA2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184708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Mosque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514600" y="1847088"/>
            <a:ext cx="6217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Masjid dengan kubah atau atap khas masjid.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670048"/>
            <a:ext cx="8595360" cy="804672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670048"/>
            <a:ext cx="54864" cy="8046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2761488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🛢️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80720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280720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Refinery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14600" y="2807208"/>
            <a:ext cx="6217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kilang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minyak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tangki besar dan pola infrastruktur industri.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630168"/>
            <a:ext cx="8595360" cy="804672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630168"/>
            <a:ext cx="54864" cy="80467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384048" y="3721608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☀️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76732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1097280" y="37673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14600" y="3767328"/>
            <a:ext cx="6217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surya di atap atau ladang panel; tampak gelap beraturan.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466344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Konsistensi anotasi sangat </a:t>
            </a:r>
            <a:r>
              <a:rPr lang="en-US" sz="105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penting</a:t>
            </a: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misalkan</a:t>
            </a: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</a:t>
            </a: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</a:t>
            </a: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saja</a:t>
            </a: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salah label, bisa merusak pola belajar model.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 Dataset Akhir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1691640" cy="128016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868680"/>
            <a:ext cx="1691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1536192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Images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749808"/>
            <a:ext cx="1691640" cy="128016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03120" y="868680"/>
            <a:ext cx="1691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1,284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103120" y="1536192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Annotations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31920" y="749808"/>
            <a:ext cx="1691640" cy="128016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931920" y="868680"/>
            <a:ext cx="1691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931920" y="1536192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Classes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6421" y="221284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Anotasi per Kelas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4924" y="2606040"/>
            <a:ext cx="4928616" cy="34747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6" name="Text 14"/>
          <p:cNvSpPr/>
          <p:nvPr/>
        </p:nvSpPr>
        <p:spPr>
          <a:xfrm>
            <a:off x="-408076" y="26060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91604" y="2619688"/>
            <a:ext cx="52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588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4924" y="3136392"/>
            <a:ext cx="2740914" cy="3474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-408076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Refinery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1558" y="3136392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327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4924" y="3666744"/>
            <a:ext cx="2237994" cy="34747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-408076" y="36667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18638" y="3666744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4924" y="4197096"/>
            <a:ext cx="854964" cy="347472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25" name="Text 23"/>
          <p:cNvSpPr/>
          <p:nvPr/>
        </p:nvSpPr>
        <p:spPr>
          <a:xfrm>
            <a:off x="-408076" y="41970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Mosque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635608" y="419709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806440" y="749808"/>
            <a:ext cx="3063240" cy="38862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897880" y="822960"/>
            <a:ext cx="2880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Dataset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943600" y="1325880"/>
            <a:ext cx="2743200" cy="777240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0" y="1325880"/>
            <a:ext cx="27432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1" name="Text 29"/>
          <p:cNvSpPr/>
          <p:nvPr/>
        </p:nvSpPr>
        <p:spPr>
          <a:xfrm>
            <a:off x="6035040" y="14356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086600" y="1435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 images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35040" y="17282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43600" y="2331720"/>
            <a:ext cx="2743200" cy="777240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0" y="2331720"/>
            <a:ext cx="27432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6" name="Text 34"/>
          <p:cNvSpPr/>
          <p:nvPr/>
        </p:nvSpPr>
        <p:spPr>
          <a:xfrm>
            <a:off x="6035040" y="24414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86600" y="24414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images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035040" y="27340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337560"/>
            <a:ext cx="2743200" cy="777240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40" name="Shape 38"/>
          <p:cNvSpPr/>
          <p:nvPr/>
        </p:nvSpPr>
        <p:spPr>
          <a:xfrm>
            <a:off x="5943600" y="3337560"/>
            <a:ext cx="27432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1" name="Text 39"/>
          <p:cNvSpPr/>
          <p:nvPr/>
        </p:nvSpPr>
        <p:spPr>
          <a:xfrm>
            <a:off x="6035040" y="34472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086600" y="34472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images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035040" y="373989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Dataset: Format YOLOv8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114800" cy="393192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Export Roboflow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618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train/images/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88920" y="1261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Gambar training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train/labels/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88920" y="17373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Label TXT training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128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valid/images/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88920" y="22128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Gambar validasi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26883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valid/labels/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88920" y="268833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Label TXT validasi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1638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test/images/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88920" y="31638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Gambar test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7200" y="36393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test/labels/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88920" y="363931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Label TXT test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data.yaml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88920" y="41148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Konfigurasi path + kelas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0" y="749808"/>
            <a:ext cx="4251960" cy="18288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82296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Label YOLO (.txt)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1234440"/>
            <a:ext cx="402336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12344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class_id  x_center  y_center  width  height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18288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Contoh: 0  0.512  0.438  0.245  0.198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17720" y="2697480"/>
            <a:ext cx="4251960" cy="1965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09160" y="2761488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data.yaml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54880" y="3127248"/>
            <a:ext cx="3977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5853AE9-48B4-494D-B0D6-189161F98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056524"/>
            <a:ext cx="3658435" cy="15587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YOLOv8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105156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84124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Nano </a:t>
            </a:r>
            <a:r>
              <a:rPr lang="en-US" sz="2000" b="1" dirty="0" err="1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</a:t>
            </a:r>
            <a:r>
              <a:rPr lang="en-US" sz="2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Object Detection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35331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D" sz="1100" dirty="0">
                <a:solidFill>
                  <a:schemeClr val="bg1"/>
                </a:solidFill>
              </a:rPr>
              <a:t>Model </a:t>
            </a:r>
            <a:r>
              <a:rPr lang="en-ID" sz="1100" dirty="0" err="1">
                <a:solidFill>
                  <a:schemeClr val="bg1"/>
                </a:solidFill>
              </a:rPr>
              <a:t>pengganti</a:t>
            </a:r>
            <a:r>
              <a:rPr lang="en-ID" sz="1100" dirty="0">
                <a:solidFill>
                  <a:schemeClr val="bg1"/>
                </a:solidFill>
              </a:rPr>
              <a:t> </a:t>
            </a:r>
            <a:r>
              <a:rPr lang="en-ID" sz="1100" dirty="0" err="1">
                <a:solidFill>
                  <a:schemeClr val="bg1"/>
                </a:solidFill>
              </a:rPr>
              <a:t>pendekatan</a:t>
            </a:r>
            <a:r>
              <a:rPr lang="en-ID" sz="1100" dirty="0">
                <a:solidFill>
                  <a:schemeClr val="bg1"/>
                </a:solidFill>
              </a:rPr>
              <a:t> </a:t>
            </a:r>
            <a:r>
              <a:rPr lang="en-ID" sz="1100" dirty="0" err="1">
                <a:solidFill>
                  <a:schemeClr val="bg1"/>
                </a:solidFill>
              </a:rPr>
              <a:t>segmentasi</a:t>
            </a:r>
            <a:r>
              <a:rPr lang="en-ID" sz="1100" dirty="0">
                <a:solidFill>
                  <a:schemeClr val="bg1"/>
                </a:solidFill>
              </a:rPr>
              <a:t> U-Net agar </a:t>
            </a:r>
            <a:r>
              <a:rPr lang="en-ID" sz="1100" dirty="0" err="1">
                <a:solidFill>
                  <a:schemeClr val="bg1"/>
                </a:solidFill>
              </a:rPr>
              <a:t>dapat</a:t>
            </a:r>
            <a:r>
              <a:rPr lang="en-ID" sz="1100" dirty="0">
                <a:solidFill>
                  <a:schemeClr val="bg1"/>
                </a:solidFill>
              </a:rPr>
              <a:t> </a:t>
            </a:r>
            <a:r>
              <a:rPr lang="en-ID" sz="1100" dirty="0" err="1">
                <a:solidFill>
                  <a:schemeClr val="bg1"/>
                </a:solidFill>
              </a:rPr>
              <a:t>mendeteksi</a:t>
            </a:r>
            <a:r>
              <a:rPr lang="en-ID" sz="1100" dirty="0">
                <a:solidFill>
                  <a:schemeClr val="bg1"/>
                </a:solidFill>
              </a:rPr>
              <a:t> </a:t>
            </a:r>
            <a:r>
              <a:rPr lang="en-ID" sz="1100" dirty="0" err="1">
                <a:solidFill>
                  <a:schemeClr val="bg1"/>
                </a:solidFill>
              </a:rPr>
              <a:t>objek</a:t>
            </a:r>
            <a:r>
              <a:rPr lang="en-ID" sz="1100" dirty="0">
                <a:solidFill>
                  <a:schemeClr val="bg1"/>
                </a:solidFill>
              </a:rPr>
              <a:t> per </a:t>
            </a:r>
            <a:r>
              <a:rPr lang="en-ID" sz="1100" dirty="0" err="1">
                <a:solidFill>
                  <a:schemeClr val="bg1"/>
                </a:solidFill>
              </a:rPr>
              <a:t>kelas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274320" y="201168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011680"/>
            <a:ext cx="420624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21408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05840" y="21396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Ringan &amp; Cepat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25603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Cocok untuk GPU GTX 1650 4GB dan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 Of Memory.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01168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2011680"/>
            <a:ext cx="420624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121408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40680" y="21396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Cukup Akurat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40680" y="25603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 cukup baik untuk dataset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kecil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menuju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menengah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356616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3566160"/>
            <a:ext cx="4206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675888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05840" y="3694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Setup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4114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cukup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 baris kode untuk training.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356616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3566160"/>
            <a:ext cx="42062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3675888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40680" y="3694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Weights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40680" y="4114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Menggunakan yolov8n.pt pretrained COCO,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biasa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disebut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transfer learning.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Training YOLOv8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5029200" cy="3931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22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training.py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170432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32120" y="77724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Penjelasan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32120" y="1188720"/>
            <a:ext cx="3337560" cy="402336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10" name="Text 8"/>
          <p:cNvSpPr/>
          <p:nvPr/>
        </p:nvSpPr>
        <p:spPr>
          <a:xfrm>
            <a:off x="5596128" y="12344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931152" y="12344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konfigurasi dataset YAML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32120" y="1664208"/>
            <a:ext cx="3337560" cy="402336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13" name="Text 11"/>
          <p:cNvSpPr/>
          <p:nvPr/>
        </p:nvSpPr>
        <p:spPr>
          <a:xfrm>
            <a:off x="5596128" y="17099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epochs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931152" y="1709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iterasi training (100)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532120" y="2139696"/>
            <a:ext cx="3337560" cy="402336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16" name="Text 14"/>
          <p:cNvSpPr/>
          <p:nvPr/>
        </p:nvSpPr>
        <p:spPr>
          <a:xfrm>
            <a:off x="5596128" y="218541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imgsz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931152" y="21854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input gambar (640×640)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2615184"/>
            <a:ext cx="3337560" cy="402336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19" name="Text 17"/>
          <p:cNvSpPr/>
          <p:nvPr/>
        </p:nvSpPr>
        <p:spPr>
          <a:xfrm>
            <a:off x="5596128" y="2660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31152" y="2660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per batch (4); </a:t>
            </a: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VRAM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3090672"/>
            <a:ext cx="3337560" cy="402336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22" name="Text 20"/>
          <p:cNvSpPr/>
          <p:nvPr/>
        </p:nvSpPr>
        <p:spPr>
          <a:xfrm>
            <a:off x="5596128" y="313639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workers=0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931152" y="31363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 di Windows, hindari error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32120" y="3566160"/>
            <a:ext cx="3337560" cy="402336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25" name="Text 23"/>
          <p:cNvSpPr/>
          <p:nvPr/>
        </p:nvSpPr>
        <p:spPr>
          <a:xfrm>
            <a:off x="5596128" y="361188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device=0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931152" y="36118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GPU NVIDIA (cuda:0)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4041648"/>
            <a:ext cx="3337560" cy="402336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28" name="Text 26"/>
          <p:cNvSpPr/>
          <p:nvPr/>
        </p:nvSpPr>
        <p:spPr>
          <a:xfrm>
            <a:off x="5596128" y="4087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patience=20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31152" y="408736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 jika tidak ada progress</a:t>
            </a:r>
            <a:endParaRPr lang="en-US" sz="9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E530E9A-FB10-41D6-959A-1541665AB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61872"/>
            <a:ext cx="3035143" cy="322270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Kendala Teknis saat Training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54864" cy="1188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84124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8412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37360" y="82296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Multiprocessing Error di Windows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125272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12527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737360" y="123444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Bungkus script dengan if __name__ == '__main__': agar tidak fork proses secara tidak benar.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075688"/>
            <a:ext cx="8595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075688"/>
            <a:ext cx="54864" cy="1188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" y="216712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38912" y="21671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737360" y="214884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Paging File Windows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" y="257860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" y="25786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737360" y="256032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Kurangi batch size ke 4 dan gunakan workers=0 untuk mengurangi memori yang diminta.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3401568"/>
            <a:ext cx="8595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401568"/>
            <a:ext cx="54864" cy="1188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912" y="349300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667EEA"/>
          </a:solidFill>
          <a:ln/>
        </p:spPr>
      </p:sp>
      <p:sp>
        <p:nvSpPr>
          <p:cNvPr id="24" name="Text 22"/>
          <p:cNvSpPr/>
          <p:nvPr/>
        </p:nvSpPr>
        <p:spPr>
          <a:xfrm>
            <a:off x="438912" y="34930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737360" y="347472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Warning pada GTX 1650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8912" y="390448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438912" y="39044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737360" y="388620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otomatis menonaktifkan AMP pada GPU yang tidak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sehingga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training tetap berjalan normal.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727448"/>
            <a:ext cx="8595360" cy="292608"/>
          </a:xfrm>
          <a:prstGeom prst="rect">
            <a:avLst/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47274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Training berhasil berjalan menggunakan GPU NVIDIA GeForce GTX 1650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Training: Dataset Akhir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241 gambar · 1,284 anotasi · 4 kelas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24128"/>
            <a:ext cx="4206240" cy="17373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24128"/>
            <a:ext cx="420624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88720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331720" y="116128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31720" y="16184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91.1%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031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Sebagian besar prediksi model benar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1024128"/>
            <a:ext cx="4206240" cy="17373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024128"/>
            <a:ext cx="420624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188720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0.772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766560" y="116128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66560" y="16184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1031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mendeteksi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77,2% objek yang ada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990088"/>
            <a:ext cx="4206240" cy="17373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90088"/>
            <a:ext cx="420624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3154680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0.848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2331720" y="31272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331720" y="3584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84.8%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069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 deteksi pada IoU ≥ 0.50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2990088"/>
            <a:ext cx="4206240" cy="17373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2990088"/>
            <a:ext cx="420624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3154680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0.739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6766560" y="31272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mAP50-95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66560" y="3584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73.9%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4069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 ketat pada IoU 0.50–0.95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Evaluasi per Kelas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321040" cy="4114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74980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77440" y="74980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0" y="74980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0" y="74980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0" y="74980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mAP50-95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207008"/>
            <a:ext cx="83210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207008"/>
            <a:ext cx="54864" cy="71323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2984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14600" y="135331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2377440" y="12984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977640" y="135331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0" y="12984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40680" y="135331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0" y="12984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903720" y="135331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12984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0.528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1984248"/>
            <a:ext cx="8321040" cy="7132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3" name="Shape 21"/>
          <p:cNvSpPr/>
          <p:nvPr/>
        </p:nvSpPr>
        <p:spPr>
          <a:xfrm>
            <a:off x="274320" y="1984248"/>
            <a:ext cx="54864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207568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🛢️ Oil Refinery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13055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2377440" y="20756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0.998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977640" y="213055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840480" y="20756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40680" y="213055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0" y="20756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0.995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903720" y="213055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0" y="20756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0.958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74320" y="2761488"/>
            <a:ext cx="832104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274320" y="2761488"/>
            <a:ext cx="54864" cy="7132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411480" y="285292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Solar Panels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514600" y="290779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2377440" y="285292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0.869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977640" y="290779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840480" y="285292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0.935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40680" y="290779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5303520" y="285292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0.951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903720" y="290779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0" y="285292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74320" y="3538728"/>
            <a:ext cx="8321040" cy="7132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5" name="Shape 43"/>
          <p:cNvSpPr/>
          <p:nvPr/>
        </p:nvSpPr>
        <p:spPr>
          <a:xfrm>
            <a:off x="274320" y="3538728"/>
            <a:ext cx="54864" cy="713232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46" name="Text 44"/>
          <p:cNvSpPr/>
          <p:nvPr/>
        </p:nvSpPr>
        <p:spPr>
          <a:xfrm>
            <a:off x="411480" y="363016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Mosque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14600" y="368503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2377440" y="363016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0.913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977640" y="368503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0" y="363016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0.619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440680" y="368503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5303520" y="363016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0.742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903720" y="368503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6766560" y="363016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0.668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74320" y="4297680"/>
            <a:ext cx="8321040" cy="621792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1480" y="4343400"/>
            <a:ext cx="8092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Oil Refinery dan Solar Panels performa terbaik. Home dan Mosque perlu lebih banyak variasi data.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Confusion Matrix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14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🛢️ Oil Refinery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97480" y="941832"/>
            <a:ext cx="1188720" cy="274320"/>
          </a:xfrm>
          <a:prstGeom prst="roundRect">
            <a:avLst>
              <a:gd name="adj" fmla="val 23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94183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Bagus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023360" y="92354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Hampir seluruhnya terdeteksi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sehingga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performa hampir sempurna.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792224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792224"/>
            <a:ext cx="54864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9019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Solar Panels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697480" y="1929384"/>
            <a:ext cx="1188720" cy="274320"/>
          </a:xfrm>
          <a:prstGeom prst="roundRect">
            <a:avLst>
              <a:gd name="adj" fmla="val 23333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2697480" y="192938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Bagus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023360" y="19110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deteksinya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tergolong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dikarenakan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pola visual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yang memudahkan model.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779776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779776"/>
            <a:ext cx="54864" cy="82296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889504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97480" y="2916936"/>
            <a:ext cx="1188720" cy="274320"/>
          </a:xfrm>
          <a:prstGeom prst="roundRect">
            <a:avLst>
              <a:gd name="adj" fmla="val 23333"/>
            </a:avLst>
          </a:prstGeom>
          <a:solidFill>
            <a:schemeClr val="accent4">
              <a:lumMod val="75000"/>
            </a:schemeClr>
          </a:solidFill>
          <a:ln/>
        </p:spPr>
      </p:sp>
      <p:sp>
        <p:nvSpPr>
          <p:cNvPr id="21" name="Text 19"/>
          <p:cNvSpPr/>
          <p:nvPr/>
        </p:nvSpPr>
        <p:spPr>
          <a:xfrm>
            <a:off x="2697480" y="291693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Perlu Perbaikan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023360" y="28986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Beberapa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seringkali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masuk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background, variasi bentuk atap tinggi.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767328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767328"/>
            <a:ext cx="54864" cy="82296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877056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64B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Mosque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97480" y="3904488"/>
            <a:ext cx="1188720" cy="274320"/>
          </a:xfrm>
          <a:prstGeom prst="roundRect">
            <a:avLst>
              <a:gd name="adj" fmla="val 23333"/>
            </a:avLst>
          </a:prstGeom>
          <a:solidFill>
            <a:schemeClr val="accent4">
              <a:lumMod val="75000"/>
            </a:schemeClr>
          </a:solidFill>
          <a:ln/>
        </p:spPr>
      </p:sp>
      <p:sp>
        <p:nvSpPr>
          <p:cNvPr id="27" name="Text 25"/>
          <p:cNvSpPr/>
          <p:nvPr/>
        </p:nvSpPr>
        <p:spPr>
          <a:xfrm>
            <a:off x="2697480" y="39044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Perlu Perbaikan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023360" y="388620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Beberapa objek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terdeteksi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dataset masih terbatas.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477316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utama: bukan salah klasifikasi antar kelas, melainkan objek Home/Mosque tidak terdeteksi (masuk background).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Grafik Training</a:t>
            </a:r>
            <a:endParaRPr lang="en-US" sz="26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749808"/>
          <a:ext cx="50292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274320" y="3401568"/>
          <a:ext cx="502920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5532120" y="804672"/>
            <a:ext cx="33375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5577840" y="896112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6126480" y="89611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Loss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6126480" y="124358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loss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menurun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box_loss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cls_loss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dan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dfl_loss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532120" y="1828800"/>
            <a:ext cx="33375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577840" y="1920240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12648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Loss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126480" y="226771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Menurun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secara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umum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sedikit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fluktuasi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akhir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training;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menunjukkan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overfitting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532120" y="2852928"/>
            <a:ext cx="33375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D" dirty="0"/>
          </a:p>
        </p:txBody>
      </p:sp>
      <p:sp>
        <p:nvSpPr>
          <p:cNvPr id="16" name="Text 12"/>
          <p:cNvSpPr/>
          <p:nvPr/>
        </p:nvSpPr>
        <p:spPr>
          <a:xfrm>
            <a:off x="5577840" y="2944368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612648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126480" y="3291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D" sz="1000" dirty="0"/>
              <a:t>Naik </a:t>
            </a:r>
            <a:r>
              <a:rPr lang="en-ID" sz="1000" dirty="0" err="1"/>
              <a:t>hingga</a:t>
            </a:r>
            <a:r>
              <a:rPr lang="en-ID" sz="1000" dirty="0"/>
              <a:t> </a:t>
            </a:r>
            <a:r>
              <a:rPr lang="en-ID" sz="1000" dirty="0" err="1"/>
              <a:t>performa</a:t>
            </a:r>
            <a:r>
              <a:rPr lang="en-ID" sz="1000" dirty="0"/>
              <a:t> </a:t>
            </a:r>
            <a:r>
              <a:rPr lang="en-ID" sz="1000" dirty="0" err="1"/>
              <a:t>terbaik</a:t>
            </a:r>
            <a:r>
              <a:rPr lang="en-ID" sz="1000" dirty="0"/>
              <a:t> di epoch 69, </a:t>
            </a:r>
            <a:r>
              <a:rPr lang="en-ID" sz="1000" dirty="0" err="1"/>
              <a:t>lalu</a:t>
            </a:r>
            <a:r>
              <a:rPr lang="en-ID" sz="1000" dirty="0"/>
              <a:t> </a:t>
            </a:r>
            <a:r>
              <a:rPr lang="en-ID" sz="1000" dirty="0" err="1"/>
              <a:t>sedikit</a:t>
            </a:r>
            <a:r>
              <a:rPr lang="en-ID" sz="1000" dirty="0"/>
              <a:t> </a:t>
            </a:r>
            <a:r>
              <a:rPr lang="en-ID" sz="1000" dirty="0" err="1"/>
              <a:t>menurun</a:t>
            </a:r>
            <a:r>
              <a:rPr lang="en-ID" sz="1000" dirty="0"/>
              <a:t> pada </a:t>
            </a:r>
            <a:r>
              <a:rPr lang="en-ID" sz="1000" dirty="0" err="1"/>
              <a:t>akhir</a:t>
            </a:r>
            <a:r>
              <a:rPr lang="en-ID" sz="1000" dirty="0"/>
              <a:t> training.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532120" y="3877056"/>
            <a:ext cx="33375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5577840" y="3968496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🛑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6126480" y="396849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126480" y="4315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epoch 89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peningkatan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selama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 epoch.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diperoleh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epoch 69.</a:t>
            </a:r>
            <a:endParaRPr lang="en-US" sz="10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B651DA-B541-4C82-9282-3705F5AB92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835533"/>
            <a:ext cx="4777740" cy="23888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Implementasi Web App: Streamlit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265176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24128" y="9418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Gambar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8191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citra satelit format PNG, JPG, atau TIF.</a:t>
            </a:r>
            <a:endParaRPr lang="en-US" sz="950" b="1" dirty="0"/>
          </a:p>
        </p:txBody>
      </p:sp>
      <p:sp>
        <p:nvSpPr>
          <p:cNvPr id="10" name="Shape 8"/>
          <p:cNvSpPr/>
          <p:nvPr/>
        </p:nvSpPr>
        <p:spPr>
          <a:xfrm>
            <a:off x="3154680" y="80467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04672"/>
            <a:ext cx="2651760" cy="64008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914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904488" y="9418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Inference</a:t>
            </a:r>
            <a:endParaRPr lang="en-US" sz="1200" b="1" dirty="0"/>
          </a:p>
        </p:txBody>
      </p:sp>
      <p:sp>
        <p:nvSpPr>
          <p:cNvPr id="14" name="Text 12"/>
          <p:cNvSpPr/>
          <p:nvPr/>
        </p:nvSpPr>
        <p:spPr>
          <a:xfrm>
            <a:off x="3246120" y="158191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YOLOv8 melakukan deteksi multi-class secara real-time.</a:t>
            </a:r>
            <a:endParaRPr lang="en-US" sz="950" b="1" dirty="0"/>
          </a:p>
        </p:txBody>
      </p:sp>
      <p:sp>
        <p:nvSpPr>
          <p:cNvPr id="15" name="Shape 13"/>
          <p:cNvSpPr/>
          <p:nvPr/>
        </p:nvSpPr>
        <p:spPr>
          <a:xfrm>
            <a:off x="6035040" y="80467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804672"/>
            <a:ext cx="265176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914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🔲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84848" y="9418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158191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objek terdeteksi diberi kotak warna berbeda per kelas.</a:t>
            </a:r>
            <a:endParaRPr lang="en-US" sz="950" b="1" dirty="0"/>
          </a:p>
        </p:txBody>
      </p:sp>
      <p:sp>
        <p:nvSpPr>
          <p:cNvPr id="20" name="Shape 18"/>
          <p:cNvSpPr/>
          <p:nvPr/>
        </p:nvSpPr>
        <p:spPr>
          <a:xfrm>
            <a:off x="274320" y="272491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724912"/>
            <a:ext cx="265176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834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24128" y="28620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per Kelas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35021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menghitung jumlah tiap kelas secara otomatis.</a:t>
            </a:r>
            <a:endParaRPr lang="en-US" sz="950" b="1" dirty="0"/>
          </a:p>
        </p:txBody>
      </p:sp>
      <p:sp>
        <p:nvSpPr>
          <p:cNvPr id="25" name="Shape 23"/>
          <p:cNvSpPr/>
          <p:nvPr/>
        </p:nvSpPr>
        <p:spPr>
          <a:xfrm>
            <a:off x="3154680" y="272491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2724912"/>
            <a:ext cx="265176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3246120" y="2834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904488" y="28620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Ringkasan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46120" y="35021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Tampilkan tabel dengan nama kelas, jumlah, dan confidence.</a:t>
            </a:r>
            <a:endParaRPr lang="en-US" sz="950" b="1" dirty="0"/>
          </a:p>
        </p:txBody>
      </p:sp>
      <p:sp>
        <p:nvSpPr>
          <p:cNvPr id="30" name="Shape 28"/>
          <p:cNvSpPr/>
          <p:nvPr/>
        </p:nvSpPr>
        <p:spPr>
          <a:xfrm>
            <a:off x="6035040" y="272491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35040" y="2724912"/>
            <a:ext cx="2651760" cy="64008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2" name="Text 30"/>
          <p:cNvSpPr/>
          <p:nvPr/>
        </p:nvSpPr>
        <p:spPr>
          <a:xfrm>
            <a:off x="6126480" y="2834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⬇️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784848" y="28620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Hasil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35021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gambar hasil deteksi bounding box sebagai PNG.</a:t>
            </a:r>
            <a:endParaRPr lang="en-US" sz="950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54864"/>
            <a:ext cx="5532120" cy="5038344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D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</a:t>
            </a: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</a:t>
            </a: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09373" y="48234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YOLO/src/app.py — core logic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1430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532120" y="77724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 Utama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32120" y="11704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596128" y="12161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16752" y="1216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Config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16752" y="1417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layout, title, icon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532120" y="16276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5596128" y="16733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16752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16752" y="18745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YOLO('models/best.pt') + cache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532120" y="20848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596128" y="21305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16752" y="2130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16752" y="23317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gambar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532120" y="25420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5596128" y="25877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16752" y="25877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16752" y="27889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gambar → numpy array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532120" y="29992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96128" y="30449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16752" y="3044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16752" y="32461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model.predict() → results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532120" y="34564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0" name="Text 28"/>
          <p:cNvSpPr/>
          <p:nvPr/>
        </p:nvSpPr>
        <p:spPr>
          <a:xfrm>
            <a:off x="5596128" y="35021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16752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per Class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016752" y="3703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objek per kelas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532120" y="39136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596128" y="39593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16752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Visualisasi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016752" y="41605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results.plot() bounding box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532120" y="43708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5596128" y="44165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16752" y="4416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16752" y="46177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BytesIO → st.download_button</a:t>
            </a:r>
            <a:endParaRPr lang="en-US" sz="85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26A8C26-BBF2-482B-82A2-F7ABB618D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355" y="722184"/>
            <a:ext cx="2228439" cy="1234568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15B4244A-C0CB-4E25-8E30-054D62BE8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76" y="2082683"/>
            <a:ext cx="2280118" cy="149112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B7C7E723-C013-4905-9A89-54355993B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6061" y="742127"/>
            <a:ext cx="2508192" cy="878038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AA38151-FC25-4859-A3F2-4BF667DD2E9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811" r="42083"/>
          <a:stretch/>
        </p:blipFill>
        <p:spPr>
          <a:xfrm>
            <a:off x="2876181" y="1732310"/>
            <a:ext cx="2494232" cy="242411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54864"/>
            <a:ext cx="5532120" cy="5038344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D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</a:t>
            </a: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</a:t>
            </a: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09373" y="48234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YOLO/src/app.py — core logic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1430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532120" y="77724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 Utama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32120" y="11704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596128" y="12161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16752" y="1216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Config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16752" y="1417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layout, title, icon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532120" y="16276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5596128" y="16733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16752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16752" y="18745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YOLO('models/best.pt') + cache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532120" y="20848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596128" y="21305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16752" y="2130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16752" y="23317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gambar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532120" y="25420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5596128" y="25877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16752" y="25877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16752" y="27889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gambar → numpy array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532120" y="29992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96128" y="30449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16752" y="3044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16752" y="32461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model.predict() → results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532120" y="34564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0" name="Text 28"/>
          <p:cNvSpPr/>
          <p:nvPr/>
        </p:nvSpPr>
        <p:spPr>
          <a:xfrm>
            <a:off x="5596128" y="35021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16752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per Class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016752" y="3703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objek per kelas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532120" y="39136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596128" y="39593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16752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Visualisasi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016752" y="41605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results.plot() bounding box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532120" y="43708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5596128" y="44165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16752" y="4416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16752" y="46177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BytesIO → st.download_button</a:t>
            </a:r>
            <a:endParaRPr lang="en-US" sz="850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BFFFBDB9-F429-4403-8F24-873FACE9E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55523"/>
            <a:ext cx="2769829" cy="238429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8CCF2B3-AA3D-4196-8774-348EC4E22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4222" y="758935"/>
            <a:ext cx="2520738" cy="2384298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30A1DE7F-33D1-4DE1-ADD7-15B02B6D2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" y="3277342"/>
            <a:ext cx="2326965" cy="1479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143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 menentukan batas minimum keyakinan model untuk menampilkan hasil deteksi.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651760" cy="32004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2651760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26187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4320" y="221284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269748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banyak objek terdeteksi.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meningkat.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Cocok untuk eksplorasi.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913632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EF4444">
              <a:alpha val="3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9136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Terlalu sensitif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54680" y="1097280"/>
            <a:ext cx="2651760" cy="32004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54680" y="1097280"/>
            <a:ext cx="265176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3154680" y="126187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154680" y="221284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46120" y="269748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Keseimbangan antara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presisi dan sensitivitas.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rekomendasi.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29000" y="3913632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10B981">
              <a:alpha val="3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429000" y="39136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Direkomendasikan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35040" y="1097280"/>
            <a:ext cx="2651760" cy="32004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35040" y="1097280"/>
            <a:ext cx="265176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0" y="126187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035040" y="221284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26480" y="269748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lebih bersih.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kecil bisa terlewat.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Cocok untuk demo resmi.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3913632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667EEA">
              <a:alpha val="3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39136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Untuk demo bersih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370832"/>
            <a:ext cx="8595360" cy="347472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4370832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Slider confidence threshold dapat ditambahkan di Streamlit agar pengguna bisa menyesuaikan sensitivitas secara interaktif.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Sistem End-to-End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05840"/>
            <a:ext cx="132588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📤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2860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 citra satelit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554480" y="2148840"/>
            <a:ext cx="137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7EEA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9164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691640" y="1005840"/>
            <a:ext cx="132588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169164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73736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→ numpy array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17520" y="2148840"/>
            <a:ext cx="137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7EEA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15468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54680" y="1005840"/>
            <a:ext cx="1325880" cy="54864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9" name="Text 17"/>
          <p:cNvSpPr/>
          <p:nvPr/>
        </p:nvSpPr>
        <p:spPr>
          <a:xfrm>
            <a:off x="315468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15468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deteksi objek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80560" y="2148840"/>
            <a:ext cx="137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7EEA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61772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17720" y="1005840"/>
            <a:ext cx="13258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🔲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61772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6344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kotak per objek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0" y="2148840"/>
            <a:ext cx="137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7EEA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08076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1005840"/>
            <a:ext cx="13258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Text 29"/>
          <p:cNvSpPr/>
          <p:nvPr/>
        </p:nvSpPr>
        <p:spPr>
          <a:xfrm>
            <a:off x="608076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08076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12648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per kelas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406640" y="2148840"/>
            <a:ext cx="137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7EEA"/>
                </a:solidFill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54380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543800" y="1005840"/>
            <a:ext cx="1325880" cy="5486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7" name="Text 35"/>
          <p:cNvSpPr/>
          <p:nvPr/>
        </p:nvSpPr>
        <p:spPr>
          <a:xfrm>
            <a:off x="754380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⬇️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754380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58952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hasil PNG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74320" y="4389120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4443984"/>
            <a:ext cx="8321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Image  →  Preprocessing  →  YOLOv8 Detection  →  Bounding Box  →  Count per Class  →  Download Result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Aplikasi Streamlit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5943600" cy="4069080"/>
          </a:xfrm>
          <a:prstGeom prst="rect">
            <a:avLst/>
          </a:prstGeom>
          <a:solidFill>
            <a:srgbClr val="0714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5943600" cy="38404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Detection AI 🏢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243584"/>
            <a:ext cx="5486400" cy="713232"/>
          </a:xfrm>
          <a:prstGeom prst="rect">
            <a:avLst/>
          </a:prstGeom>
          <a:solidFill>
            <a:srgbClr val="667EEA">
              <a:alpha val="8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29844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Building Detection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4592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Home · Mosque · Oil Refinery · Solar Panels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2920" y="2029968"/>
            <a:ext cx="5486400" cy="594360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029968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Drop satellite image here  ·  PNG / JPG / TIF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1188720" cy="640080"/>
          </a:xfrm>
          <a:prstGeom prst="rect">
            <a:avLst/>
          </a:prstGeom>
          <a:solidFill>
            <a:srgbClr val="1A2F55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779776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309067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874520" y="2743200"/>
            <a:ext cx="1188720" cy="640080"/>
          </a:xfrm>
          <a:prstGeom prst="rect">
            <a:avLst/>
          </a:prstGeom>
          <a:solidFill>
            <a:srgbClr val="1A2F55"/>
          </a:solidFill>
          <a:ln/>
        </p:spPr>
      </p:sp>
      <p:sp>
        <p:nvSpPr>
          <p:cNvPr id="17" name="Text 15"/>
          <p:cNvSpPr/>
          <p:nvPr/>
        </p:nvSpPr>
        <p:spPr>
          <a:xfrm>
            <a:off x="1874520" y="2779776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74520" y="309067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Ref.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0" y="2743200"/>
            <a:ext cx="1188720" cy="640080"/>
          </a:xfrm>
          <a:prstGeom prst="rect">
            <a:avLst/>
          </a:prstGeom>
          <a:solidFill>
            <a:srgbClr val="1A2F55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779776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00400" y="309067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26280" y="2743200"/>
            <a:ext cx="1188720" cy="640080"/>
          </a:xfrm>
          <a:prstGeom prst="rect">
            <a:avLst/>
          </a:prstGeom>
          <a:solidFill>
            <a:srgbClr val="1A2F55"/>
          </a:solidFill>
          <a:ln/>
        </p:spPr>
      </p:sp>
      <p:sp>
        <p:nvSpPr>
          <p:cNvPr id="23" name="Text 21"/>
          <p:cNvSpPr/>
          <p:nvPr/>
        </p:nvSpPr>
        <p:spPr>
          <a:xfrm>
            <a:off x="4526280" y="2779776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64B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26280" y="309067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Mosque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48640" y="349300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0.25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794760"/>
            <a:ext cx="5394960" cy="594360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379476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Detected: 88 objects | Home:45  Oil:12  Solar:23  Mosque:8 ]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92240" y="804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Pakai Aplikasi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92240" y="1298448"/>
            <a:ext cx="2468880" cy="56692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37960" y="1389888"/>
            <a:ext cx="365760" cy="36576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13898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67728" y="136245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citra satelit dari device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92240" y="1956816"/>
            <a:ext cx="2468880" cy="56692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537960" y="2048256"/>
            <a:ext cx="365760" cy="36576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35" name="Text 33"/>
          <p:cNvSpPr/>
          <p:nvPr/>
        </p:nvSpPr>
        <p:spPr>
          <a:xfrm>
            <a:off x="6537960" y="20482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67728" y="202082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 confidence threshold via slider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492240" y="2615184"/>
            <a:ext cx="2468880" cy="56692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537960" y="2706624"/>
            <a:ext cx="365760" cy="36576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39" name="Text 37"/>
          <p:cNvSpPr/>
          <p:nvPr/>
        </p:nvSpPr>
        <p:spPr>
          <a:xfrm>
            <a:off x="6537960" y="27066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67728" y="26791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 hasil bounding box per kelas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92240" y="3273552"/>
            <a:ext cx="2468880" cy="56692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37960" y="3364992"/>
            <a:ext cx="365760" cy="36576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43" name="Text 41"/>
          <p:cNvSpPr/>
          <p:nvPr/>
        </p:nvSpPr>
        <p:spPr>
          <a:xfrm>
            <a:off x="6537960" y="33649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67728" y="333756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count per kelas di metric cards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492240" y="3931920"/>
            <a:ext cx="2468880" cy="56692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537960" y="4023360"/>
            <a:ext cx="365760" cy="36576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47" name="Text 45"/>
          <p:cNvSpPr/>
          <p:nvPr/>
        </p:nvSpPr>
        <p:spPr>
          <a:xfrm>
            <a:off x="653796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67728" y="399592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gambar hasil deteksi</a:t>
            </a:r>
            <a:endParaRPr lang="en-US" sz="950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08F23377-4E0F-4F07-A07A-05FB3E78F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735374"/>
            <a:ext cx="5961888" cy="365374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Kelebihan Sistem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8869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8869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8686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mendeteksi 4 kelas objek berbeda dalam satu kali inference.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463040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" y="14630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" y="15727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15727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15544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Menghasilkan bounding box dan jumlah objek per kelas secara otomatis.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148840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21488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912" y="22585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22585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22402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Menggunakan YOLOv8n yang ringan dan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cepat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cocok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kompatibel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GPU laptop.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834640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28346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Shape 20"/>
          <p:cNvSpPr/>
          <p:nvPr/>
        </p:nvSpPr>
        <p:spPr>
          <a:xfrm>
            <a:off x="438912" y="29443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" y="29443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9260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berjalan dengan GPU GTX 1650 4GB tanpa error memori.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520440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74320" y="35204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Shape 25"/>
          <p:cNvSpPr/>
          <p:nvPr/>
        </p:nvSpPr>
        <p:spPr>
          <a:xfrm>
            <a:off x="438912" y="36301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438912" y="36301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14400" y="36118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sederhana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206240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2062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Shape 30"/>
          <p:cNvSpPr/>
          <p:nvPr/>
        </p:nvSpPr>
        <p:spPr>
          <a:xfrm>
            <a:off x="438912" y="43159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438912" y="43159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42976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 dapat disesuaikan untuk berbagai kebutuhan deteksi.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Keterbatasan Sistem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73152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941832"/>
            <a:ext cx="402336" cy="40233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9418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88696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masih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relatif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terbatas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Idealnya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deep learning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butuh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ribuan gambar per kelas.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45920"/>
            <a:ext cx="8595360" cy="73152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64592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" y="1810512"/>
            <a:ext cx="402336" cy="40233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18105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✖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175564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sangat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bergantung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kualitas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resolusi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satelit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input.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514600"/>
            <a:ext cx="8595360" cy="73152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51460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912" y="2679192"/>
            <a:ext cx="402336" cy="40233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2679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✖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87552" y="26243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terlalu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kecil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blur,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atau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tertutup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pohon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terdeteksi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383280"/>
            <a:ext cx="8595360" cy="73152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38328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8912" y="3547872"/>
            <a:ext cx="402336" cy="40233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" y="35478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✖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87552" y="349300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diuji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berbagai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geografis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yang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berbeda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" y="44165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436168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Pengembangan Selanjutnya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265176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68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📸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8869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Variasi Data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49961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Perbanyak data Home dan Mosque dari lokasi berbeda untuk meningkatkan recall.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749808"/>
            <a:ext cx="265176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868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886200" y="8869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Variasi Geografis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49961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data dari berbagai negara agar model tidak bias ke satu kawasan.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749808"/>
            <a:ext cx="2651760" cy="64008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868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66560" y="8869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YOLOv8s / YOLOv11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49961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model jika hardware mendukung untuk akurasi lebih tinggi.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2880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65760" y="351129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246120" y="2880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246120" y="351129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155356" y="276148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155356" y="2761488"/>
            <a:ext cx="2651760" cy="64008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2" name="Text 30"/>
          <p:cNvSpPr/>
          <p:nvPr/>
        </p:nvSpPr>
        <p:spPr>
          <a:xfrm>
            <a:off x="3246796" y="2880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886876" y="289864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Online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46796" y="351129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ke Streamlit Cloud atau Hugging Face Spaces untuk akses publik.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14400"/>
            <a:ext cx="54864" cy="82296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078992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0789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51560" y="10058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Berhasil Dibuat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gambar · 1,284 anotasi · 4 kelas via Roboflow dengan konsistensi label terjaga.</a:t>
            </a:r>
            <a:endParaRPr lang="en-US" sz="1100" b="1" dirty="0"/>
          </a:p>
        </p:txBody>
      </p:sp>
      <p:sp>
        <p:nvSpPr>
          <p:cNvPr id="11" name="Shape 9"/>
          <p:cNvSpPr/>
          <p:nvPr/>
        </p:nvSpPr>
        <p:spPr>
          <a:xfrm>
            <a:off x="274320" y="1874520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874520"/>
            <a:ext cx="54864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Shape 11"/>
          <p:cNvSpPr/>
          <p:nvPr/>
        </p:nvSpPr>
        <p:spPr>
          <a:xfrm>
            <a:off x="438912" y="2039112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" y="2039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19659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YOLOv8n Terlatih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233172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0.911 · Recall 0.772 · mAP50 0.848 · mAP50-95 0.739 pada dataset validasi.</a:t>
            </a:r>
            <a:endParaRPr lang="en-US" sz="1100" b="1" dirty="0"/>
          </a:p>
        </p:txBody>
      </p:sp>
      <p:sp>
        <p:nvSpPr>
          <p:cNvPr id="17" name="Shape 15"/>
          <p:cNvSpPr/>
          <p:nvPr/>
        </p:nvSpPr>
        <p:spPr>
          <a:xfrm>
            <a:off x="274320" y="2834640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834640"/>
            <a:ext cx="54864" cy="8229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Shape 17"/>
          <p:cNvSpPr/>
          <p:nvPr/>
        </p:nvSpPr>
        <p:spPr>
          <a:xfrm>
            <a:off x="438912" y="2999232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" y="29992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51560" y="29260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&amp; Counting OK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32918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berhasil mendeteksi dan menghitung objek per kelas pada citra satelit.</a:t>
            </a:r>
            <a:endParaRPr lang="en-US" sz="1100" b="1" dirty="0"/>
          </a:p>
        </p:txBody>
      </p:sp>
      <p:sp>
        <p:nvSpPr>
          <p:cNvPr id="23" name="Shape 21"/>
          <p:cNvSpPr/>
          <p:nvPr/>
        </p:nvSpPr>
        <p:spPr>
          <a:xfrm>
            <a:off x="274320" y="3794760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794760"/>
            <a:ext cx="54864" cy="82296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25" name="Shape 23"/>
          <p:cNvSpPr/>
          <p:nvPr/>
        </p:nvSpPr>
        <p:spPr>
          <a:xfrm>
            <a:off x="438912" y="3959352"/>
            <a:ext cx="457200" cy="457200"/>
          </a:xfrm>
          <a:prstGeom prst="ellipse">
            <a:avLst/>
          </a:prstGeom>
          <a:solidFill>
            <a:srgbClr val="764BA2"/>
          </a:solidFill>
          <a:ln/>
        </p:spPr>
      </p:sp>
      <p:sp>
        <p:nvSpPr>
          <p:cNvPr id="26" name="Text 24"/>
          <p:cNvSpPr/>
          <p:nvPr/>
        </p:nvSpPr>
        <p:spPr>
          <a:xfrm>
            <a:off x="438912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51560" y="38862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Berjalan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51560" y="425196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</a:t>
            </a:r>
            <a:r>
              <a:rPr lang="en-US" sz="110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</a:t>
            </a: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demo; upload, deteksi, visualisasi, download dalam satu halaman.</a:t>
            </a:r>
            <a:endParaRPr lang="en-US" sz="1100" b="1" dirty="0"/>
          </a:p>
        </p:txBody>
      </p:sp>
      <p:sp>
        <p:nvSpPr>
          <p:cNvPr id="29" name="Shape 27"/>
          <p:cNvSpPr/>
          <p:nvPr/>
        </p:nvSpPr>
        <p:spPr>
          <a:xfrm>
            <a:off x="1371600" y="4754880"/>
            <a:ext cx="6400800" cy="292608"/>
          </a:xfrm>
          <a:prstGeom prst="rect">
            <a:avLst/>
          </a:prstGeom>
          <a:solidFill>
            <a:srgbClr val="667EEA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1371600" y="475488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Building Detection · YOLOv8 · Radithya Wildan Pratama · 2026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667EEA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764BA2">
              <a:alpha val="1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85669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2743200" y="2665829"/>
            <a:ext cx="3657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12848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806506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Building Detection pada Citra Satelit</a:t>
            </a:r>
            <a:endParaRPr lang="en-US" sz="1200" b="1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1463040" cy="320040"/>
          </a:xfrm>
          <a:prstGeom prst="roundRect">
            <a:avLst>
              <a:gd name="adj" fmla="val 25714"/>
            </a:avLst>
          </a:prstGeom>
          <a:solidFill>
            <a:srgbClr val="0F204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069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76272" y="4069080"/>
            <a:ext cx="1463040" cy="320040"/>
          </a:xfrm>
          <a:prstGeom prst="roundRect">
            <a:avLst>
              <a:gd name="adj" fmla="val 25714"/>
            </a:avLst>
          </a:prstGeom>
          <a:solidFill>
            <a:srgbClr val="0F2040"/>
          </a:solidFill>
          <a:ln/>
        </p:spPr>
      </p:sp>
      <p:sp>
        <p:nvSpPr>
          <p:cNvPr id="14" name="Text 12"/>
          <p:cNvSpPr/>
          <p:nvPr/>
        </p:nvSpPr>
        <p:spPr>
          <a:xfrm>
            <a:off x="2176272" y="4069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Roboflow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03904" y="4069080"/>
            <a:ext cx="1463040" cy="320040"/>
          </a:xfrm>
          <a:prstGeom prst="roundRect">
            <a:avLst>
              <a:gd name="adj" fmla="val 25714"/>
            </a:avLst>
          </a:prstGeom>
          <a:solidFill>
            <a:srgbClr val="0F2040"/>
          </a:solidFill>
          <a:ln/>
        </p:spPr>
      </p:sp>
      <p:sp>
        <p:nvSpPr>
          <p:cNvPr id="16" name="Text 14"/>
          <p:cNvSpPr/>
          <p:nvPr/>
        </p:nvSpPr>
        <p:spPr>
          <a:xfrm>
            <a:off x="3803904" y="4069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31536" y="4069080"/>
            <a:ext cx="1463040" cy="320040"/>
          </a:xfrm>
          <a:prstGeom prst="roundRect">
            <a:avLst>
              <a:gd name="adj" fmla="val 25714"/>
            </a:avLst>
          </a:prstGeom>
          <a:solidFill>
            <a:srgbClr val="0F2040"/>
          </a:solidFill>
          <a:ln/>
        </p:spPr>
      </p:sp>
      <p:sp>
        <p:nvSpPr>
          <p:cNvPr id="18" name="Text 16"/>
          <p:cNvSpPr/>
          <p:nvPr/>
        </p:nvSpPr>
        <p:spPr>
          <a:xfrm>
            <a:off x="5431536" y="4069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59168" y="4069080"/>
            <a:ext cx="1463040" cy="320040"/>
          </a:xfrm>
          <a:prstGeom prst="roundRect">
            <a:avLst>
              <a:gd name="adj" fmla="val 25714"/>
            </a:avLst>
          </a:prstGeom>
          <a:solidFill>
            <a:srgbClr val="0F2040"/>
          </a:solidFill>
          <a:ln/>
        </p:spPr>
      </p:sp>
      <p:sp>
        <p:nvSpPr>
          <p:cNvPr id="20" name="Text 18"/>
          <p:cNvSpPr/>
          <p:nvPr/>
        </p:nvSpPr>
        <p:spPr>
          <a:xfrm>
            <a:off x="7059168" y="4069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2263</Words>
  <Application>Microsoft Office PowerPoint</Application>
  <PresentationFormat>On-screen Show (16:9)</PresentationFormat>
  <Paragraphs>565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radithyarwp123@gmail.com</cp:lastModifiedBy>
  <cp:revision>23</cp:revision>
  <dcterms:created xsi:type="dcterms:W3CDTF">2026-06-02T12:58:29Z</dcterms:created>
  <dcterms:modified xsi:type="dcterms:W3CDTF">2026-06-02T17:57:21Z</dcterms:modified>
</cp:coreProperties>
</file>